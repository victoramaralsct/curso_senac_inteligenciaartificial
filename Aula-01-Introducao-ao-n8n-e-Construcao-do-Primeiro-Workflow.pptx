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Medium"/>
      <p:regular r:id="rId201316"/>
    </p:embeddedFont>
    <p:embeddedFont>
      <p:font typeface="Sora Medium"/>
      <p:regular r:id="rId201317"/>
    </p:embeddedFont>
    <p:embeddedFont>
      <p:font typeface="Sora"/>
      <p:regular r:id="rId201318"/>
    </p:embeddedFont>
    <p:embeddedFont>
      <p:font typeface="Sor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2.png"/><Relationship Id="rId5" Type="http://schemas.openxmlformats.org/officeDocument/2006/relationships/image" Target="../media/image-12-3.svg"/><Relationship Id="rId6" Type="http://schemas.openxmlformats.org/officeDocument/2006/relationships/image" Target="../media/image-12-2.png"/><Relationship Id="rId7" Type="http://schemas.openxmlformats.org/officeDocument/2006/relationships/image" Target="../media/image-12-3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8.png"/><Relationship Id="rId11" Type="http://schemas.openxmlformats.org/officeDocument/2006/relationships/image" Target="../media/image-12-9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svg"/><Relationship Id="rId4" Type="http://schemas.openxmlformats.org/officeDocument/2006/relationships/image" Target="../media/image-19-2.png"/><Relationship Id="rId5" Type="http://schemas.openxmlformats.org/officeDocument/2006/relationships/image" Target="../media/image-19-3.svg"/><Relationship Id="rId6" Type="http://schemas.openxmlformats.org/officeDocument/2006/relationships/image" Target="../media/image-19-2.png"/><Relationship Id="rId7" Type="http://schemas.openxmlformats.org/officeDocument/2006/relationships/image" Target="../media/image-19-3.svg"/><Relationship Id="rId8" Type="http://schemas.openxmlformats.org/officeDocument/2006/relationships/image" Target="../media/image-19-2.png"/><Relationship Id="rId9" Type="http://schemas.openxmlformats.org/officeDocument/2006/relationships/image" Target="../media/image-19-3.sv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1.png"/><Relationship Id="rId4" Type="http://schemas.openxmlformats.org/officeDocument/2006/relationships/image" Target="../media/image-25-2.svg"/><Relationship Id="rId5" Type="http://schemas.openxmlformats.org/officeDocument/2006/relationships/image" Target="../media/image-25-1.png"/><Relationship Id="rId6" Type="http://schemas.openxmlformats.org/officeDocument/2006/relationships/image" Target="../media/image-25-2.svg"/><Relationship Id="rId7" Type="http://schemas.openxmlformats.org/officeDocument/2006/relationships/image" Target="../media/image-25-1.png"/><Relationship Id="rId8" Type="http://schemas.openxmlformats.org/officeDocument/2006/relationships/image" Target="../media/image-25-2.svg"/><Relationship Id="rId9" Type="http://schemas.openxmlformats.org/officeDocument/2006/relationships/image" Target="../media/image-25-1.png"/><Relationship Id="rId10" Type="http://schemas.openxmlformats.org/officeDocument/2006/relationships/image" Target="../media/image-25-2.svg"/><Relationship Id="rId11" Type="http://schemas.openxmlformats.org/officeDocument/2006/relationships/image" Target="../media/image-3-2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svg"/><Relationship Id="rId4" Type="http://schemas.openxmlformats.org/officeDocument/2006/relationships/image" Target="../media/image-27-4.png"/><Relationship Id="rId5" Type="http://schemas.openxmlformats.org/officeDocument/2006/relationships/image" Target="../media/image-27-5.svg"/><Relationship Id="rId6" Type="http://schemas.openxmlformats.org/officeDocument/2006/relationships/image" Target="../media/image-27-6.png"/><Relationship Id="rId7" Type="http://schemas.openxmlformats.org/officeDocument/2006/relationships/image" Target="../media/image-27-7.svg"/><Relationship Id="rId8" Type="http://schemas.openxmlformats.org/officeDocument/2006/relationships/image" Target="../media/image-27-8.png"/><Relationship Id="rId9" Type="http://schemas.openxmlformats.org/officeDocument/2006/relationships/image" Target="../media/image-27-9.sv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sv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36650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Aula 01 — Introdução ao n8n e Construção do Primeiro Workflow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934891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 processo manual à primeira automação imobiliária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385542"/>
            <a:ext cx="3065783" cy="1217513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5398655" y="3550841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Duração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98655" y="3908524"/>
            <a:ext cx="27351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horas de aula prática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64437" y="3385542"/>
            <a:ext cx="3065783" cy="1217513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8629732" y="3550841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Objetivo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29732" y="3908524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Construir sua primeira automação no n8n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768354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26262B"/>
          </a:solidFill>
          <a:ln/>
        </p:spPr>
      </p:sp>
      <p:sp>
        <p:nvSpPr>
          <p:cNvPr id="12" name="Text 9"/>
          <p:cNvSpPr/>
          <p:nvPr/>
        </p:nvSpPr>
        <p:spPr>
          <a:xfrm>
            <a:off x="5398655" y="4933652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Contexto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8655" y="5291336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Automações para o mercado imobiliário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09477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Quantas tarefas repetitivas você executa todos os dias?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2300883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Tarefas do dia a dia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2613323"/>
            <a:ext cx="2987104" cy="2010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Verificar novos clientes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Ler planilhas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Copiar informações entre sistemas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Consultar sistemas manualmente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Enviar e-mails de aviso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Avisar alguém pelo WhatsApp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Atualizar cadastros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Gerar relatórios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Verificar documentos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82333" y="2195116"/>
            <a:ext cx="3177599" cy="3453309"/>
          </a:xfrm>
          <a:prstGeom prst="roundRect">
            <a:avLst>
              <a:gd name="adj" fmla="val 625"/>
            </a:avLst>
          </a:prstGeom>
          <a:solidFill>
            <a:srgbClr val="120336"/>
          </a:solidFill>
          <a:ln/>
        </p:spPr>
      </p:sp>
      <p:sp>
        <p:nvSpPr>
          <p:cNvPr id="7" name="Text 4"/>
          <p:cNvSpPr/>
          <p:nvPr/>
        </p:nvSpPr>
        <p:spPr>
          <a:xfrm>
            <a:off x="4014588" y="2300883"/>
            <a:ext cx="2913089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 mercado imobiliário, um corretor recebe dezenas de contatos. Ele precisa: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14588" y="3026668"/>
            <a:ext cx="2913089" cy="174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Abrir uma planilha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Verificar quais são clientes novos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Identificar quem quer comprar um imóvel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Analisar os dados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Identificar os clientes que interessam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6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Copiar nome, telefone e informações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Font typeface="+mj-lt"/>
              <a:buAutoNum type="arabicPeriod" startAt="7"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Enviar um e-mail para o corretor responsável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014588" y="4891782"/>
            <a:ext cx="2913089" cy="637580"/>
          </a:xfrm>
          <a:prstGeom prst="roundRect">
            <a:avLst>
              <a:gd name="adj" fmla="val 3113"/>
            </a:avLst>
          </a:prstGeom>
          <a:solidFill>
            <a:srgbClr val="00288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843" y="5060851"/>
            <a:ext cx="165294" cy="1322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44393" y="5020072"/>
            <a:ext cx="23510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Será que precisamos fazer tudo isso manualmente?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860"/>
            <a:ext cx="10868745" cy="443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Antes de Automatizar: Entenda o Processo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50553"/>
            <a:ext cx="11478330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Antes de automatizar qualquer coisa, precisamos compreender como ela funciona. Todo processo pode ser descrito com quatro elementos fundamentais: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392" y="1598216"/>
            <a:ext cx="7606812" cy="3481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16970" y="4252959"/>
            <a:ext cx="1428127" cy="27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Ação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17138" y="4252959"/>
            <a:ext cx="1428127" cy="27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Decisão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27089" y="4115400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Processamento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697912" y="4252959"/>
            <a:ext cx="1428127" cy="27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Entrada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5216525"/>
            <a:ext cx="11478330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Essa estrutura — Entrada → Processamento → Decisão → Ação — é a base de qualquer automação e, futuramente, de qualquer agente de IA que construiremos.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5564188"/>
            <a:ext cx="10868745" cy="729952"/>
          </a:xfrm>
          <a:prstGeom prst="roundRect">
            <a:avLst>
              <a:gd name="adj" fmla="val 2915"/>
            </a:avLst>
          </a:prstGeom>
          <a:solidFill>
            <a:srgbClr val="0028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55" y="5743178"/>
            <a:ext cx="177299" cy="1417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2334" y="5721251"/>
            <a:ext cx="10266106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✏️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Atividade rápida: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Pense em uma tarefa repetitiva sua. Responda: O que inicia o processo? Que informações entram? O que precisa ser feito? Existe alguma decisão? Qual é o resultado final?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130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é o n8n?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428750"/>
            <a:ext cx="5273047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</a:t>
            </a:r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n8n</a:t>
            </a:r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é uma plataforma de automação de workflows que permite </a:t>
            </a:r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conectar aplicativos, APIs, bancos de dados, serviços e modelos de Inteligência Artificial</a:t>
            </a:r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tudo em um único fluxo visual.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 o n8n, você não precisa escrever código para criar automações poderosas. Você conecta blocos, configura regras e os sistemas conversam entre si automaticamente.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2595563"/>
            <a:ext cx="5273047" cy="637580"/>
          </a:xfrm>
          <a:prstGeom prst="roundRect">
            <a:avLst>
              <a:gd name="adj" fmla="val 3113"/>
            </a:avLst>
          </a:prstGeom>
          <a:solidFill>
            <a:srgbClr val="0028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2764631"/>
            <a:ext cx="165294" cy="13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1280" y="2723852"/>
            <a:ext cx="4710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n8n combina automações tradicionais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Inteligência Artificial no mesmo ambiente.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63523" y="1439267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pode ser conectado ao n8n?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523" y="1765002"/>
            <a:ext cx="2583592" cy="9738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9" name="Shape 6"/>
          <p:cNvSpPr/>
          <p:nvPr/>
        </p:nvSpPr>
        <p:spPr>
          <a:xfrm>
            <a:off x="6395778" y="1897261"/>
            <a:ext cx="396865" cy="39687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4916" y="2006402"/>
            <a:ext cx="178589" cy="1785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95778" y="2399903"/>
            <a:ext cx="2319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952879" y="1765002"/>
            <a:ext cx="2583691" cy="9738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13" name="Shape 9"/>
          <p:cNvSpPr/>
          <p:nvPr/>
        </p:nvSpPr>
        <p:spPr>
          <a:xfrm>
            <a:off x="9085134" y="1897261"/>
            <a:ext cx="396865" cy="39687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94272" y="2006402"/>
            <a:ext cx="178589" cy="1785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85134" y="2399903"/>
            <a:ext cx="23191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Gmail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63523" y="2844602"/>
            <a:ext cx="2583592" cy="9738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17" name="Shape 12"/>
          <p:cNvSpPr/>
          <p:nvPr/>
        </p:nvSpPr>
        <p:spPr>
          <a:xfrm>
            <a:off x="6395778" y="2976860"/>
            <a:ext cx="396865" cy="39687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916" y="3086001"/>
            <a:ext cx="178589" cy="1785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95778" y="3479502"/>
            <a:ext cx="2319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952879" y="2844602"/>
            <a:ext cx="2583691" cy="9738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21" name="Shape 15"/>
          <p:cNvSpPr/>
          <p:nvPr/>
        </p:nvSpPr>
        <p:spPr>
          <a:xfrm>
            <a:off x="9085134" y="2976860"/>
            <a:ext cx="396865" cy="39687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94272" y="3086001"/>
            <a:ext cx="178589" cy="1785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85134" y="3479502"/>
            <a:ext cx="23191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Bancos de Dados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523" y="3924201"/>
            <a:ext cx="2583592" cy="9738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25" name="Shape 18"/>
          <p:cNvSpPr/>
          <p:nvPr/>
        </p:nvSpPr>
        <p:spPr>
          <a:xfrm>
            <a:off x="6395778" y="4056459"/>
            <a:ext cx="396865" cy="39687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04916" y="4165600"/>
            <a:ext cx="178589" cy="17859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95778" y="4559102"/>
            <a:ext cx="2319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APIs e Webhooks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8952879" y="3924201"/>
            <a:ext cx="2583691" cy="9738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29" name="Shape 21"/>
          <p:cNvSpPr/>
          <p:nvPr/>
        </p:nvSpPr>
        <p:spPr>
          <a:xfrm>
            <a:off x="9085134" y="4056459"/>
            <a:ext cx="396865" cy="39687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94272" y="4165600"/>
            <a:ext cx="178589" cy="17859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085134" y="4559102"/>
            <a:ext cx="23191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WhatsApp / Telegram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263523" y="5003800"/>
            <a:ext cx="2583592" cy="9738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33" name="Shape 24"/>
          <p:cNvSpPr/>
          <p:nvPr/>
        </p:nvSpPr>
        <p:spPr>
          <a:xfrm>
            <a:off x="6395778" y="5136059"/>
            <a:ext cx="396865" cy="39687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04916" y="5245199"/>
            <a:ext cx="178589" cy="17859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395778" y="5638701"/>
            <a:ext cx="23190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Modelos de IA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8952879" y="5003800"/>
            <a:ext cx="2583691" cy="9738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37" name="Shape 27"/>
          <p:cNvSpPr/>
          <p:nvPr/>
        </p:nvSpPr>
        <p:spPr>
          <a:xfrm>
            <a:off x="9085134" y="5136059"/>
            <a:ext cx="396865" cy="396875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194272" y="5245199"/>
            <a:ext cx="178589" cy="17859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085134" y="5638701"/>
            <a:ext cx="23191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Sistemas Empresariais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960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é um Workflow?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15033"/>
            <a:ext cx="10868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workflow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é uma sequência de etapas conectadas para executar um processo de forma automática. No n8n, cada etapa é representada por um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nó (node)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825030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81455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Resultado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81455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Ação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81455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Decisão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81455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Consultar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81455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Gatilho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925741"/>
            <a:ext cx="10868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Pense no workflow como um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fluxograma executável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você desenha o processo uma vez e o n8n executa automaticamente sempre que necessário, sem intervenção humana.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98153"/>
            <a:ext cx="6296860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Formas de Utilizar o n8n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120155" y="1812925"/>
            <a:ext cx="3183156" cy="2926755"/>
          </a:xfrm>
          <a:prstGeom prst="roundRect">
            <a:avLst>
              <a:gd name="adj" fmla="val 805"/>
            </a:avLst>
          </a:prstGeom>
          <a:solidFill>
            <a:srgbClr val="120336"/>
          </a:solidFill>
          <a:ln/>
        </p:spPr>
      </p:sp>
      <p:sp>
        <p:nvSpPr>
          <p:cNvPr id="5" name="Shape 2"/>
          <p:cNvSpPr/>
          <p:nvPr/>
        </p:nvSpPr>
        <p:spPr>
          <a:xfrm>
            <a:off x="5277214" y="1980803"/>
            <a:ext cx="911500" cy="245170"/>
          </a:xfrm>
          <a:prstGeom prst="roundRect">
            <a:avLst>
              <a:gd name="adj" fmla="val 7690"/>
            </a:avLst>
          </a:prstGeom>
          <a:solidFill>
            <a:srgbClr val="00184D"/>
          </a:solidFill>
          <a:ln/>
        </p:spPr>
      </p:sp>
      <p:sp>
        <p:nvSpPr>
          <p:cNvPr id="6" name="Text 3"/>
          <p:cNvSpPr/>
          <p:nvPr/>
        </p:nvSpPr>
        <p:spPr>
          <a:xfrm>
            <a:off x="5371470" y="2027932"/>
            <a:ext cx="1332574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☁️</a:t>
            </a:r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OPÇÃO 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277214" y="2285603"/>
            <a:ext cx="286903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n8n Cloud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77214" y="2680395"/>
            <a:ext cx="286903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Ambiente hospedado pelo próprio n8n. Ideal para começar.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77214" y="3305076"/>
            <a:ext cx="2869037" cy="1382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Não precisa instalar nada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Acesso direto pelo navegador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Configuração inicial simples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Plano gratuito disponível para testes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79826" y="1980803"/>
            <a:ext cx="911500" cy="245170"/>
          </a:xfrm>
          <a:prstGeom prst="roundRect">
            <a:avLst>
              <a:gd name="adj" fmla="val 7690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74081" y="2027932"/>
            <a:ext cx="1332574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🖥️</a:t>
            </a:r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OPÇÃO 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79826" y="2285603"/>
            <a:ext cx="29567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n8n Self-hosted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79826" y="2680395"/>
            <a:ext cx="295674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Você executa o n8n no seu próprio servidor ou máquina.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79826" y="3305076"/>
            <a:ext cx="2956744" cy="1382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Instalável via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ou VPS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Controle total do ambiente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Versão Community Edition gratuita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Ideal para produção e projetos maiores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33360" y="4907558"/>
            <a:ext cx="6296860" cy="852289"/>
          </a:xfrm>
          <a:prstGeom prst="roundRect">
            <a:avLst>
              <a:gd name="adj" fmla="val 2765"/>
            </a:avLst>
          </a:prstGeom>
          <a:solidFill>
            <a:srgbClr val="02234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420" y="5123557"/>
            <a:ext cx="196349" cy="15706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43828" y="5095974"/>
            <a:ext cx="562933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Nesta aula, utilizaremos 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n8n Cloud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facilitar o acesso. A instalação self-hosted será abordada em aulas futuras.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8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Conhecendo a Interface do n8n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6931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Antes de construir qualquer automação, precisamos nos familiarizar com os principais elementos da interface.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19970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4B3F0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2059682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31" y="202654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[INSERIR PRINT DO N8N AQUI]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Captura da tela principal do editor de workflows.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67298"/>
            <a:ext cx="5351725" cy="17517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13317" y="277931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45819" y="3347740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Área do Workflow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45819" y="3705423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Tela principal onde os nodes são posicionados e conectados. É a sua "tela de trabalho".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8495" y="2667298"/>
            <a:ext cx="5351725" cy="17517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30337" y="277931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6362838" y="3347740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Painel de Nodes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62838" y="3705423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Botão "+" para adicionar novos nodes ao workflow. Permite buscar por nome ou categoria.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584303"/>
            <a:ext cx="5351725" cy="175170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13317" y="469632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845819" y="5264745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Input e Output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45819" y="5622429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Painel lateral que exibe os dados que entram e saem de cada node após a execução.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8495" y="4584303"/>
            <a:ext cx="5351725" cy="175170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30337" y="469632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1" name="Text 14"/>
          <p:cNvSpPr/>
          <p:nvPr/>
        </p:nvSpPr>
        <p:spPr>
          <a:xfrm>
            <a:off x="6362838" y="5264745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Histórico e Ativação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362838" y="5622429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Acesso ao histórico de execuções anteriores e botão para ativar/desativar o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30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é um Node?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1050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node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representa uma etapa do workflow. Cada node faz uma coisa específica — buscar, filtrar, transformar, enviar ou decidir.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61159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1577" y="2761159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Trigger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1577" y="3118842"/>
            <a:ext cx="286496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Inicia o workflow. Define quando a automação começa a executar.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761159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3315" y="2761159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Action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73315" y="3118842"/>
            <a:ext cx="286506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Executa uma ação em um serviço externo, como enviar e-mail ou criar uma linha em uma planilha.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2761159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65152" y="2761159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Flow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665152" y="3118842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Controla o caminho dos dados. Exemplos: Filter, IF, Switch.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43388"/>
            <a:ext cx="413434" cy="413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1577" y="4243388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Transformation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281577" y="4601071"/>
            <a:ext cx="286496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 e organiza os dados antes de passá-los ao próximo node.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53213" y="4243388"/>
            <a:ext cx="413434" cy="41344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73315" y="4243388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AI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973315" y="4601071"/>
            <a:ext cx="286506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 modelos de linguagem, agentes e ferramentas de Inteligência Artificial.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169"/>
            <a:ext cx="10868745" cy="33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Input e Output: O Fluxo dos Dados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942677"/>
            <a:ext cx="11478330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Este é um dos conceitos mais importantes do n8n. </a:t>
            </a:r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 saída (Output) de um node se transforma na entrada (Input) do próximo node.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214" y="1166515"/>
            <a:ext cx="5131168" cy="38568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5832" y="3014570"/>
            <a:ext cx="935768" cy="427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Fluxo de Dados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025681" y="3926468"/>
            <a:ext cx="1392122" cy="42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NODE B: Recebe e Filtra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25681" y="4415286"/>
            <a:ext cx="1392122" cy="283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 condição de validação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761903" y="3819479"/>
            <a:ext cx="1392122" cy="641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NODE C: Registros Aprovados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61903" y="4522274"/>
            <a:ext cx="1392122" cy="28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Envia e-mail aos aprovados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374772" y="1467637"/>
            <a:ext cx="1430161" cy="427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NODE A: Produz Output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74772" y="1956455"/>
            <a:ext cx="1430161" cy="141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Gera dados do cliente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3292" y="5103416"/>
            <a:ext cx="5458383" cy="1293416"/>
          </a:xfrm>
          <a:prstGeom prst="roundRect">
            <a:avLst>
              <a:gd name="adj" fmla="val 1259"/>
            </a:avLst>
          </a:prstGeom>
          <a:solidFill>
            <a:srgbClr val="120336"/>
          </a:solidFill>
          <a:ln/>
        </p:spPr>
      </p:sp>
      <p:sp>
        <p:nvSpPr>
          <p:cNvPr id="13" name="Text 10"/>
          <p:cNvSpPr/>
          <p:nvPr/>
        </p:nvSpPr>
        <p:spPr>
          <a:xfrm>
            <a:off x="691736" y="5174555"/>
            <a:ext cx="5241496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Exemplo: Output do Google Sheets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1736" y="5415161"/>
            <a:ext cx="5241496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Nome: Carlos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Finalidade: Compra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Imóvel: Apartamento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Orçamento: 500000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234552" y="5174555"/>
            <a:ext cx="530201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Esses dados entram no Filter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34552" y="5415161"/>
            <a:ext cx="5302018" cy="35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Filter verifica: </a:t>
            </a:r>
            <a:pPr algn="l"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Finalidade = Compra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 a condição for atendida, o registro </a:t>
            </a:r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continua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 workflow. Caso contrário, ele é </a:t>
            </a:r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descartado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34552" y="5846862"/>
            <a:ext cx="5302018" cy="469900"/>
          </a:xfrm>
          <a:prstGeom prst="roundRect">
            <a:avLst>
              <a:gd name="adj" fmla="val 3465"/>
            </a:avLst>
          </a:prstGeom>
          <a:solidFill>
            <a:srgbClr val="00288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995" y="5958086"/>
            <a:ext cx="135629" cy="10844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87067" y="5938044"/>
            <a:ext cx="4841059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Entender o que entra e sai de cada node é a habilidade mais importante para trabalhar com n8n.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1464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Gatilhos: Como um Workflow Começa?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587103"/>
            <a:ext cx="6296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Todo workflow precisa começar em algum momento.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Esse início é definido pelo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Trigger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o primeiro node de qualquer fluxo.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61475" y="2087166"/>
            <a:ext cx="6296860" cy="769640"/>
          </a:xfrm>
          <a:prstGeom prst="roundRect">
            <a:avLst>
              <a:gd name="adj" fmla="val 257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780" y="2238474"/>
            <a:ext cx="599425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▶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Manual Trigger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780" y="2514997"/>
            <a:ext cx="59942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Executamos manualmente. Ideal para desenvolvimento e testes.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2962573"/>
            <a:ext cx="6296860" cy="769640"/>
          </a:xfrm>
          <a:prstGeom prst="roundRect">
            <a:avLst>
              <a:gd name="adj" fmla="val 257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780" y="3113881"/>
            <a:ext cx="599425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⏰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Schedule Trigger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780" y="3390404"/>
            <a:ext cx="59942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Executa em horários definidos. Ex.: </a:t>
            </a:r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todos os dias às 8h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1475" y="3837980"/>
            <a:ext cx="6296860" cy="769640"/>
          </a:xfrm>
          <a:prstGeom prst="roundRect">
            <a:avLst>
              <a:gd name="adj" fmla="val 257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2780" y="3989288"/>
            <a:ext cx="599425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Webhook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780" y="4265811"/>
            <a:ext cx="59942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Executa quando outro sistema envia uma requisição HTTP para o n8n.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1475" y="4713387"/>
            <a:ext cx="6296860" cy="769640"/>
          </a:xfrm>
          <a:prstGeom prst="roundRect">
            <a:avLst>
              <a:gd name="adj" fmla="val 257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2780" y="4864695"/>
            <a:ext cx="599425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App Trigger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780" y="5141218"/>
            <a:ext cx="59942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Executa quando algo acontece num app: nova linha na planilha, novo e-mail, novo formulário.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1475" y="5602089"/>
            <a:ext cx="6296860" cy="654447"/>
          </a:xfrm>
          <a:prstGeom prst="roundRect">
            <a:avLst>
              <a:gd name="adj" fmla="val 3033"/>
            </a:avLst>
          </a:prstGeom>
          <a:solidFill>
            <a:srgbClr val="00288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30" y="5758458"/>
            <a:ext cx="165294" cy="1322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1280" y="5740896"/>
            <a:ext cx="57348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💡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Pergunta-chave: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"O que precisa acontecer para o seu processo começar?"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essa pergunta sempre ajuda a identificar o Trigger certo.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384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Problema da Aula: Imobiliária Futuro Lar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6127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imobiliária possui uma planilha com potenciais clientes. O objetivo é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enviar ao corretor um aviso apenas sobre clientes novos interessados em comprar um imóvel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776538"/>
            <a:ext cx="10868745" cy="2416870"/>
          </a:xfrm>
          <a:prstGeom prst="roundRect">
            <a:avLst>
              <a:gd name="adj" fmla="val 102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3261816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743920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226024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708128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3516" y="2888456"/>
            <a:ext cx="223306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Nome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7580" y="2888456"/>
            <a:ext cx="266723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E-mail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75815" y="2888456"/>
            <a:ext cx="15817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Finalidade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8525" y="2888456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Tipo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15405" y="2888456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Região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52285" y="2888456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Status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516" y="3370560"/>
            <a:ext cx="223306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7580" y="3370560"/>
            <a:ext cx="266723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ana@email.com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75815" y="3370560"/>
            <a:ext cx="15817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8525" y="3370560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Apartamento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15405" y="3370560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Águas Claras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52285" y="3370560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516" y="3852664"/>
            <a:ext cx="223306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Bruno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87580" y="3852664"/>
            <a:ext cx="266723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bruno@email.com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75815" y="3852664"/>
            <a:ext cx="15817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8525" y="3852664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Apartamento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15405" y="3852664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Taguatinga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52285" y="3852664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Novo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516" y="4334768"/>
            <a:ext cx="223306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Carla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87580" y="4334768"/>
            <a:ext cx="266723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carla@email.com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75815" y="4334768"/>
            <a:ext cx="15817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78525" y="4334768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15405" y="4334768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Samambaia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52285" y="4334768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Contatado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516" y="4816872"/>
            <a:ext cx="223306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Daniel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87580" y="4816872"/>
            <a:ext cx="266723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daniel@email.com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75815" y="4816872"/>
            <a:ext cx="15817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78525" y="4816872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Apartamento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15405" y="4816872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Asa Norte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52285" y="4816872"/>
            <a:ext cx="201587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Novo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1475" y="537944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Dos 4 registros, precisamos identificar automaticamente quais atendem às duas condições: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Finalidade = Compra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Status = Novo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573"/>
            <a:ext cx="10868745" cy="41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Desenhando Antes de Construir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087338"/>
            <a:ext cx="1147833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Primeiro pensamos no processo. Depois escolhemos os nodes.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Nunca abra o n8n sem saber o que vai construir.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545" y="1397794"/>
            <a:ext cx="9468506" cy="3553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1939" y="4088288"/>
            <a:ext cx="1428100" cy="275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Enviar Gmail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212142" y="3950732"/>
            <a:ext cx="1428100" cy="550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Editar Campos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22126" y="4088288"/>
            <a:ext cx="1428100" cy="275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Filtrar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632110" y="3950732"/>
            <a:ext cx="1428100" cy="550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Sheets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02968" y="3950732"/>
            <a:ext cx="1428100" cy="550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Disparo Manual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5051227"/>
            <a:ext cx="3553431" cy="6908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2127" y="5070277"/>
            <a:ext cx="3363729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Manual Trigger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32127" y="5341045"/>
            <a:ext cx="3363729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Inicia a automação durante os testes. Controlamos quando executar.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9558" y="5051227"/>
            <a:ext cx="3553431" cy="6908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99259" y="5070277"/>
            <a:ext cx="3363729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499259" y="5341045"/>
            <a:ext cx="3363729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Lê todos os leads da planilha da Imobiliária Futuro Lar.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6690" y="5051227"/>
            <a:ext cx="3553431" cy="690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66392" y="5070277"/>
            <a:ext cx="3363729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Filter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66392" y="5341045"/>
            <a:ext cx="3363729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Deixa passar apenas: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Finalidade = Compra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Novo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2425" y="5916513"/>
            <a:ext cx="5386947" cy="4998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2127" y="5935563"/>
            <a:ext cx="5197246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Edit Fields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32127" y="6206331"/>
            <a:ext cx="5197246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 os dados que serão utilizados no e-mail.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43074" y="5916513"/>
            <a:ext cx="5387046" cy="49986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332776" y="5935563"/>
            <a:ext cx="5197345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Gmail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332776" y="6206331"/>
            <a:ext cx="5197345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Envia o aviso ao corretor com os dados do lead identificado.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02370"/>
            <a:ext cx="714952" cy="251420"/>
          </a:xfrm>
          <a:prstGeom prst="roundRect">
            <a:avLst>
              <a:gd name="adj" fmla="val 7894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551980"/>
            <a:ext cx="11261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8198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Criar o Workflow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58464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Vamos começar a prática! Siga os passos abaixo para criar e nomear o seu primeiro workflow no n8n.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035300"/>
            <a:ext cx="372061" cy="37207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7" name="Text 5"/>
          <p:cNvSpPr/>
          <p:nvPr/>
        </p:nvSpPr>
        <p:spPr>
          <a:xfrm>
            <a:off x="723485" y="306630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3092152"/>
            <a:ext cx="294771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Acesse o n8n e clique em "New Workflow"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8830" y="3708301"/>
            <a:ext cx="29477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 tela inicial, clique no botão de criar novo workflow. Uma tela em branco será aberta.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3213" y="3035300"/>
            <a:ext cx="372061" cy="37207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1" name="Text 9"/>
          <p:cNvSpPr/>
          <p:nvPr/>
        </p:nvSpPr>
        <p:spPr>
          <a:xfrm>
            <a:off x="4415223" y="306630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890568" y="3092152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Nomeie o workflow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0568" y="3449836"/>
            <a:ext cx="29478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Clique no nome no topo da tela e digite: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Leads Imobiliários — Aula 01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Dar bons nomes é uma boa prática desde o início.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5050" y="3035300"/>
            <a:ext cx="372061" cy="37207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5" name="Text 13"/>
          <p:cNvSpPr/>
          <p:nvPr/>
        </p:nvSpPr>
        <p:spPr>
          <a:xfrm>
            <a:off x="8107060" y="306630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582406" y="3092152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Salve o workflow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82406" y="3449836"/>
            <a:ext cx="29478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ou clique em "Save". Salve com frequência durante a construção.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4694337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4B3F0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934049"/>
            <a:ext cx="206667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31" y="490091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[INSERIR PRINT DO N8N AQUI]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Tela de criação de novo workflow com o nome preenchido.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7309"/>
            <a:ext cx="714952" cy="251420"/>
          </a:xfrm>
          <a:prstGeom prst="roundRect">
            <a:avLst>
              <a:gd name="adj" fmla="val 7894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746919"/>
            <a:ext cx="11261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148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Adicionar o Manual Trigger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965623"/>
            <a:ext cx="372061" cy="37207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6" name="Text 4"/>
          <p:cNvSpPr/>
          <p:nvPr/>
        </p:nvSpPr>
        <p:spPr>
          <a:xfrm>
            <a:off x="723485" y="199662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98830" y="2022475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Clique no botão "+" na tela do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8830" y="2446238"/>
            <a:ext cx="469531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painel de busca de nodes será aberto.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041551"/>
            <a:ext cx="372061" cy="37207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0" name="Text 8"/>
          <p:cNvSpPr/>
          <p:nvPr/>
        </p:nvSpPr>
        <p:spPr>
          <a:xfrm>
            <a:off x="723485" y="307255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09840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Busque por "Manual Trigger"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8830" y="3522166"/>
            <a:ext cx="469531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Digite na caixa de busca e selecione o node.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117479"/>
            <a:ext cx="372061" cy="37207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4" name="Text 12"/>
          <p:cNvSpPr/>
          <p:nvPr/>
        </p:nvSpPr>
        <p:spPr>
          <a:xfrm>
            <a:off x="723485" y="414848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98830" y="4174331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Confirme o node na tela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8830" y="4598095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Manual Trigger aparecerá como o primeiro bloco do seu workflow.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4844" y="1779588"/>
            <a:ext cx="5470785" cy="3533775"/>
          </a:xfrm>
          <a:prstGeom prst="roundRect">
            <a:avLst>
              <a:gd name="adj" fmla="val 702"/>
            </a:avLst>
          </a:prstGeom>
          <a:solidFill>
            <a:srgbClr val="120336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139" y="194488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Por que usar o Manual Trigger?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0139" y="2368649"/>
            <a:ext cx="5140196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Durante o desenvolvimento,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queremos controlar exatamente quando o workflow será executado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Manual Trigger garante que nada aconteça de forma inesperada enquanto estamos construindo e testando o fluxo.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Depois que a automação estiver pronta, poderemos substituí-lo por um trigger automático.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475" y="5499398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4B3F02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739110"/>
            <a:ext cx="206667" cy="1652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98731" y="570597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[INSERIR PRINT DO N8N AQUI]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Manual Trigger adicionado ao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8376"/>
            <a:ext cx="703642" cy="247352"/>
          </a:xfrm>
          <a:prstGeom prst="roundRect">
            <a:avLst>
              <a:gd name="adj" fmla="val 7898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547191"/>
            <a:ext cx="1117969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09823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Sheets — Buscando os Leads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558826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1475" y="1816497"/>
            <a:ext cx="5354206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935956"/>
            <a:ext cx="535420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Adicionar o node Google Sheets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2286397"/>
            <a:ext cx="535420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Clique no "+" após o Manual Trigger e busque por "Google Sheets". Selecione a operação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Get Rows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5915" y="1558826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5915" y="1816497"/>
            <a:ext cx="5354305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1" name="Text 9"/>
          <p:cNvSpPr/>
          <p:nvPr/>
        </p:nvSpPr>
        <p:spPr>
          <a:xfrm>
            <a:off x="6175915" y="1935956"/>
            <a:ext cx="535430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Conectar a conta Google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5915" y="2286397"/>
            <a:ext cx="535430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Clique em "Credential" e autentique com sua conta Google. Autorize os acessos solicitados.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1475" y="3085604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1475" y="3327003"/>
            <a:ext cx="5354206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462734"/>
            <a:ext cx="535420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Selecionar a planilha e aba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475" y="3813175"/>
            <a:ext cx="535420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Informe o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Spreadsheet ID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(ou URL da planilha) e selecione a aba correta com os dados dos leads.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5915" y="3085604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5915" y="3327003"/>
            <a:ext cx="5354305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75915" y="3462734"/>
            <a:ext cx="535430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Executar o node e observar o 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5915" y="3813175"/>
            <a:ext cx="535430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Clique em "Execute Node". No painel à direita, veja os dados retornados da planilha.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1475" y="4599880"/>
            <a:ext cx="10868745" cy="644227"/>
          </a:xfrm>
          <a:prstGeom prst="roundRect">
            <a:avLst>
              <a:gd name="adj" fmla="val 3791"/>
            </a:avLst>
          </a:prstGeom>
          <a:solidFill>
            <a:srgbClr val="4B3F0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90" y="4829870"/>
            <a:ext cx="203493" cy="16271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90397" y="4833342"/>
            <a:ext cx="107866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[INSERIR PRINT DO N8N AQUI]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Output do Google Sheets exibindo os 4 registros da planilha.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61475" y="5424388"/>
            <a:ext cx="10868745" cy="902692"/>
          </a:xfrm>
          <a:prstGeom prst="roundRect">
            <a:avLst>
              <a:gd name="adj" fmla="val 2705"/>
            </a:avLst>
          </a:prstGeom>
          <a:solidFill>
            <a:srgbClr val="183A13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90" y="5654377"/>
            <a:ext cx="203493" cy="16271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90397" y="5657850"/>
            <a:ext cx="1017710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✅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Checkpoint: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Antes de continuar, todos os alunos devem conseguir visualizar os registros da planilha no Output do Google Sheets. Quantos registros apareceram? Quais campos estão disponíveis?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1130"/>
            <a:ext cx="571783" cy="201116"/>
          </a:xfrm>
          <a:prstGeom prst="roundRect">
            <a:avLst>
              <a:gd name="adj" fmla="val 7895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670818"/>
            <a:ext cx="102262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PASSO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7451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Filter — Filtrando os Leads Relevantes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65771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1475" y="1771452"/>
            <a:ext cx="5273047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875631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Adicionar o node Filter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188071"/>
            <a:ext cx="52730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Clique em "+" após o Google Sheets e busque por "Filter".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1475" y="258355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1475" y="2776041"/>
            <a:ext cx="5273047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893417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Criar a primeira condição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205857"/>
            <a:ext cx="52730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Campo: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Finalidade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| Operação: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| Valor: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1475" y="360134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1475" y="3780631"/>
            <a:ext cx="5273047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911203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Adicionar segunda condição (E)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223643"/>
            <a:ext cx="52730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Campo: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| Operação: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| Valor: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Novo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1475" y="461912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1475" y="4785221"/>
            <a:ext cx="5273047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92898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Executar e comparar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5241429"/>
            <a:ext cx="52730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Observe quantos registros passaram pelo filtro.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68275" y="1499493"/>
            <a:ext cx="5463542" cy="4097933"/>
          </a:xfrm>
          <a:prstGeom prst="roundRect">
            <a:avLst>
              <a:gd name="adj" fmla="val 484"/>
            </a:avLst>
          </a:prstGeom>
          <a:solidFill>
            <a:srgbClr val="12033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0531" y="1552476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Antes do Filter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0531" y="1864916"/>
            <a:ext cx="5808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clientes na planilha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0531" y="2260302"/>
            <a:ext cx="5199032" cy="19050"/>
          </a:xfrm>
          <a:prstGeom prst="roundRect">
            <a:avLst>
              <a:gd name="adj" fmla="val 49999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00531" y="2378670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Depois do Filter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0531" y="2691110"/>
            <a:ext cx="5808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F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Apenas Ana e Daniel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clientes com Finalidade = Compra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Status = Novo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0531" y="3086497"/>
            <a:ext cx="5199032" cy="19050"/>
          </a:xfrm>
          <a:prstGeom prst="roundRect">
            <a:avLst>
              <a:gd name="adj" fmla="val 49999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00531" y="3204865"/>
            <a:ext cx="5199032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Reflexão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0531" y="3523655"/>
            <a:ext cx="5808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aconteceria se trocássemos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Novo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por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Orçamento &gt; 500000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1475" y="5716488"/>
            <a:ext cx="10868745" cy="457597"/>
          </a:xfrm>
          <a:prstGeom prst="roundRect">
            <a:avLst>
              <a:gd name="adj" fmla="val 4337"/>
            </a:avLst>
          </a:prstGeom>
          <a:solidFill>
            <a:srgbClr val="002880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5872857"/>
            <a:ext cx="165294" cy="132259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91280" y="5908080"/>
            <a:ext cx="109162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Filter não cria informações.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Ele decide quais registros continuarão no workflow e quais serão descartados.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6402"/>
            <a:ext cx="607700" cy="213717"/>
          </a:xfrm>
          <a:prstGeom prst="roundRect">
            <a:avLst>
              <a:gd name="adj" fmla="val 7894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778570"/>
            <a:ext cx="1048617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PASSO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9784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Edit Fields — Organizando os Dados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750616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1970484"/>
            <a:ext cx="5262927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078831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Adicionar o node Edit Fields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2417862"/>
            <a:ext cx="526292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Clique em "+" após o Filter e busque por "Edit Fields" (também chamado de </a:t>
            </a:r>
            <a:pPr algn="l" indent="0" marL="0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3058815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1475" y="3264595"/>
            <a:ext cx="5262927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387030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Selecionar os campos necessários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1475" y="3726061"/>
            <a:ext cx="526292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Adicione somente os campos que precisamos: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telefone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tipo_imovel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regiao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orcamento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475" y="4367014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1475" y="4558804"/>
            <a:ext cx="5262927" cy="1905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695230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Executar e verificar o 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1475" y="5034260"/>
            <a:ext cx="5262927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Confirme que apenas os campos selecionados aparecem no Output.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3643" y="1735733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Por que usar o Edit Fields?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73643" y="2074763"/>
            <a:ext cx="526292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node anterior pode conter muitos campos desnecessários. O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Edit Fields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serve para: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3643" y="2598341"/>
            <a:ext cx="526292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Selecionar apenas os campos necessários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Renomear campos para nomes mais claros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Organizar os dados antes de enviá-los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Preparar o payload para o próximo node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3643" y="3732312"/>
            <a:ext cx="5262927" cy="701278"/>
          </a:xfrm>
          <a:prstGeom prst="roundRect">
            <a:avLst>
              <a:gd name="adj" fmla="val 3007"/>
            </a:avLst>
          </a:prstGeom>
          <a:solidFill>
            <a:srgbClr val="00288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133" y="3922713"/>
            <a:ext cx="175712" cy="14049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30336" y="3832820"/>
            <a:ext cx="466574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Nem sempre precisamos enviar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todos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os dados recebidos do node anterior.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61475" y="5574209"/>
            <a:ext cx="10868745" cy="505222"/>
          </a:xfrm>
          <a:prstGeom prst="roundRect">
            <a:avLst>
              <a:gd name="adj" fmla="val 4174"/>
            </a:avLst>
          </a:prstGeom>
          <a:solidFill>
            <a:srgbClr val="4B3F0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65" y="5745559"/>
            <a:ext cx="175712" cy="14049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8167" y="5770959"/>
            <a:ext cx="10881147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[INSERIR PRINT DO N8N AQUI]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Configuração do Edit Fields com os campos selecionados.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5766"/>
            <a:ext cx="643517" cy="226219"/>
          </a:xfrm>
          <a:prstGeom prst="roundRect">
            <a:avLst>
              <a:gd name="adj" fmla="val 7896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620415"/>
            <a:ext cx="107451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PASSO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5556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Gmail — Enviando o Aviso ao Corretor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1475" y="1521619"/>
            <a:ext cx="334855" cy="334863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6" name="Text 4"/>
          <p:cNvSpPr/>
          <p:nvPr/>
        </p:nvSpPr>
        <p:spPr>
          <a:xfrm>
            <a:off x="717234" y="154945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30272" y="1572716"/>
            <a:ext cx="3042467" cy="46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Adicionar o node Gmail e conectar a conta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0272" y="2118023"/>
            <a:ext cx="304246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Busque por "Gmail", selecione a operação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Send Message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conecte com a mesma ou outra conta Google.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0116" y="1521619"/>
            <a:ext cx="334855" cy="334863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0" name="Text 8"/>
          <p:cNvSpPr/>
          <p:nvPr/>
        </p:nvSpPr>
        <p:spPr>
          <a:xfrm>
            <a:off x="4395876" y="154945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808913" y="1572716"/>
            <a:ext cx="3042566" cy="46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Configurar o destinatário e assunto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08913" y="2118023"/>
            <a:ext cx="3042566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Para: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e-mail do corretor (use um e-mail seu para teste) |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Assunto: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Novo lead interessado em compra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8857" y="1521619"/>
            <a:ext cx="334855" cy="334863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74617" y="154945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487654" y="1572716"/>
            <a:ext cx="3042566" cy="46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Montar o corpo do e-mail com Expressions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87654" y="2118023"/>
            <a:ext cx="3042566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Utilize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Expressions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inserir os dados dinamicamente: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$json.nome }}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$json.telefone }}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$json.regiao }}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$json.orcamento }}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4321" y="3173611"/>
            <a:ext cx="5467114" cy="3108623"/>
          </a:xfrm>
          <a:prstGeom prst="roundRect">
            <a:avLst>
              <a:gd name="adj" fmla="val 718"/>
            </a:avLst>
          </a:prstGeom>
          <a:solidFill>
            <a:srgbClr val="0D0326"/>
          </a:solidFill>
          <a:ln/>
        </p:spPr>
      </p:sp>
      <p:sp>
        <p:nvSpPr>
          <p:cNvPr id="18" name="Text 16"/>
          <p:cNvSpPr/>
          <p:nvPr/>
        </p:nvSpPr>
        <p:spPr>
          <a:xfrm>
            <a:off x="703146" y="3307556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Modelo do corpo do e-mail: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3146" y="3690739"/>
            <a:ext cx="5169465" cy="2440781"/>
          </a:xfrm>
          <a:prstGeom prst="roundRect">
            <a:avLst>
              <a:gd name="adj" fmla="val 915"/>
            </a:avLst>
          </a:prstGeom>
          <a:solidFill>
            <a:srgbClr val="1A1033"/>
          </a:solidFill>
          <a:ln/>
        </p:spPr>
      </p:sp>
      <p:sp>
        <p:nvSpPr>
          <p:cNvPr id="20" name="Text 18"/>
          <p:cNvSpPr/>
          <p:nvPr/>
        </p:nvSpPr>
        <p:spPr>
          <a:xfrm>
            <a:off x="881735" y="3839567"/>
            <a:ext cx="4812287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Novo cliente identificado.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Nome: {{ $json.nome }}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Telefone: {{ $json.telefone }}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 de imóvel: {{ $json.tipo_imovel }}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Região desejada: {{ $json.regiao }}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Orçamento: R$ {{ $json.orcamento }}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 em contato com o cliente.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83763" y="3307556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é uma Expression?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283763" y="3673971"/>
            <a:ext cx="525280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Expression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é uma forma de usar dados de outro ponto do workflow. Em vez de digitar o valor fixo, você referencia dinamicamente o campo vindo do node anterior.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83763" y="4503341"/>
            <a:ext cx="5252807" cy="994172"/>
          </a:xfrm>
          <a:prstGeom prst="roundRect">
            <a:avLst>
              <a:gd name="adj" fmla="val 2246"/>
            </a:avLst>
          </a:prstGeom>
          <a:solidFill>
            <a:srgbClr val="022349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588" y="4709319"/>
            <a:ext cx="186031" cy="1488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767442" y="4661098"/>
            <a:ext cx="462030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Aprofundaremos Expressions na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Aula 02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Por enquanto, basta entender que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$json.campo }}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traz o valor do campo correspondente.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1806"/>
            <a:ext cx="10868745" cy="3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Executando o Workflow Completo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28886"/>
            <a:ext cx="11478330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 todos os nodes configurados, é hora de executar o workflow inteiro e acompanhar cada etapa.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620" y="1132979"/>
            <a:ext cx="7006454" cy="30214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64093" y="3581416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Gmail Enviado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064093" y="2882009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Filtro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064093" y="2189666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Sheets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64093" y="1490258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Disparo Manual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25727"/>
            <a:ext cx="5402623" cy="8556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01223" y="4302522"/>
            <a:ext cx="122929" cy="15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6566" y="4635500"/>
            <a:ext cx="5172442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Qual foi o Input do Google Sheets?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76566" y="4833541"/>
            <a:ext cx="5172442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trigger não envia dados — ele apenas inicia.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7497" y="4225727"/>
            <a:ext cx="5402723" cy="8556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67345" y="4302522"/>
            <a:ext cx="122929" cy="15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242588" y="4635500"/>
            <a:ext cx="5172541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Quantos registros chegaram ao Filter?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242588" y="4833541"/>
            <a:ext cx="5172541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registros vindos da planilha.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144790"/>
            <a:ext cx="5402623" cy="8556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301223" y="5221585"/>
            <a:ext cx="122929" cy="15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776566" y="5554563"/>
            <a:ext cx="5172442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Quantos saíram do Filter?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76566" y="5752604"/>
            <a:ext cx="5172442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registros: Ana e Daniel.</a:t>
            </a:r>
            <a:endParaRPr lang="en-US" sz="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27497" y="5144790"/>
            <a:ext cx="5402723" cy="8556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67345" y="5221585"/>
            <a:ext cx="122929" cy="153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6242588" y="5554563"/>
            <a:ext cx="5172541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Qual foi o resultado final?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242588" y="5752604"/>
            <a:ext cx="5172541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e-mails enviados ao corretor, um para cada lead qualificado.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661475" y="6071791"/>
            <a:ext cx="10868745" cy="304403"/>
          </a:xfrm>
          <a:prstGeom prst="roundRect">
            <a:avLst>
              <a:gd name="adj" fmla="val 5049"/>
            </a:avLst>
          </a:prstGeom>
          <a:solidFill>
            <a:srgbClr val="4B3F0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866" y="6160790"/>
            <a:ext cx="127989" cy="10239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94246" y="6160790"/>
            <a:ext cx="11043167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[INSERIR PRINT DO N8N AQUI]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Workflow completo executado com todos os nodes verdes.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1302"/>
            <a:ext cx="6296860" cy="77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 Se Quiséssemos Automatizar de Verdade?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3360" y="1486098"/>
            <a:ext cx="629686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Durante o desenvolvimento, usamos o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Manual Trigger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por controle. Mas em produção, queremos que o workflow execute sozinho. Basta trocar o trigger!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3360" y="1937941"/>
            <a:ext cx="6296860" cy="844848"/>
          </a:xfrm>
          <a:prstGeom prst="roundRect">
            <a:avLst>
              <a:gd name="adj" fmla="val 2202"/>
            </a:avLst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5357381" y="2061964"/>
            <a:ext cx="60488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▶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Manual Trigger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57381" y="2311499"/>
            <a:ext cx="604881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"Execute quando eu mandar."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Ideal para testes e desenvolvimento.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233360" y="2875756"/>
            <a:ext cx="6296860" cy="844848"/>
          </a:xfrm>
          <a:prstGeom prst="roundRect">
            <a:avLst>
              <a:gd name="adj" fmla="val 2202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5357381" y="2999780"/>
            <a:ext cx="60488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⏰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Schedule Trigger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57381" y="3249315"/>
            <a:ext cx="604881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"Execute todos os dias às 8h."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Varredura periódica da planilha.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233360" y="3813572"/>
            <a:ext cx="6296860" cy="844848"/>
          </a:xfrm>
          <a:prstGeom prst="roundRect">
            <a:avLst>
              <a:gd name="adj" fmla="val 2202"/>
            </a:avLst>
          </a:prstGeom>
          <a:solidFill>
            <a:srgbClr val="26262B"/>
          </a:solidFill>
          <a:ln/>
        </p:spPr>
      </p:sp>
      <p:sp>
        <p:nvSpPr>
          <p:cNvPr id="12" name="Text 9"/>
          <p:cNvSpPr/>
          <p:nvPr/>
        </p:nvSpPr>
        <p:spPr>
          <a:xfrm>
            <a:off x="5357381" y="3937595"/>
            <a:ext cx="60488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Google Sheets Trigger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57381" y="4187130"/>
            <a:ext cx="604881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"Execute quando uma nova linha for adicionada."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Reação em tempo real.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33360" y="4751388"/>
            <a:ext cx="6296860" cy="844848"/>
          </a:xfrm>
          <a:prstGeom prst="roundRect">
            <a:avLst>
              <a:gd name="adj" fmla="val 2202"/>
            </a:avLst>
          </a:prstGeom>
          <a:solidFill>
            <a:srgbClr val="26262B"/>
          </a:solidFill>
          <a:ln/>
        </p:spPr>
      </p:sp>
      <p:sp>
        <p:nvSpPr>
          <p:cNvPr id="15" name="Text 12"/>
          <p:cNvSpPr/>
          <p:nvPr/>
        </p:nvSpPr>
        <p:spPr>
          <a:xfrm>
            <a:off x="5357381" y="4875411"/>
            <a:ext cx="60488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Webhook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57381" y="5124946"/>
            <a:ext cx="604881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"Execute quando outro sistema enviar dados."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formulários e CRMs.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33360" y="5700812"/>
            <a:ext cx="6296860" cy="585787"/>
          </a:xfrm>
          <a:prstGeom prst="roundRect">
            <a:avLst>
              <a:gd name="adj" fmla="val 3176"/>
            </a:avLst>
          </a:prstGeom>
          <a:solidFill>
            <a:srgbClr val="00288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381" y="5836841"/>
            <a:ext cx="154976" cy="12402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36377" y="5824736"/>
            <a:ext cx="5769823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mesmo workflow que construímos hoje — com Filter, Edit Fields e Gmail — já se torna uma automação real com apenas a troca do trigger.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29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Automação Tradicional vs. Agente de IA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407716"/>
            <a:ext cx="5470785" cy="3953570"/>
          </a:xfrm>
          <a:prstGeom prst="roundRect">
            <a:avLst>
              <a:gd name="adj" fmla="val 628"/>
            </a:avLst>
          </a:prstGeom>
          <a:solidFill>
            <a:srgbClr val="120336"/>
          </a:solidFill>
          <a:ln/>
        </p:spPr>
      </p:sp>
      <p:sp>
        <p:nvSpPr>
          <p:cNvPr id="4" name="Shape 2"/>
          <p:cNvSpPr/>
          <p:nvPr/>
        </p:nvSpPr>
        <p:spPr>
          <a:xfrm>
            <a:off x="707710" y="1593751"/>
            <a:ext cx="2438438" cy="251420"/>
          </a:xfrm>
          <a:prstGeom prst="roundRect">
            <a:avLst>
              <a:gd name="adj" fmla="val 7894"/>
            </a:avLst>
          </a:prstGeom>
          <a:solidFill>
            <a:srgbClr val="00184D"/>
          </a:solidFill>
          <a:ln/>
        </p:spPr>
      </p:sp>
      <p:sp>
        <p:nvSpPr>
          <p:cNvPr id="5" name="Text 3"/>
          <p:cNvSpPr/>
          <p:nvPr/>
        </p:nvSpPr>
        <p:spPr>
          <a:xfrm>
            <a:off x="806926" y="1643360"/>
            <a:ext cx="284959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HOJE — AUTOMAÇÃO TRADICIONAL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7710" y="191125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Nós definimos as regras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2335014"/>
            <a:ext cx="5140196" cy="173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fluxo segue exatamente o que foi programado. Nada mais, nada menos.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Exemplo: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 finalidade = Compra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 status = Novo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ENTÃO enviar e-mail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4220369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Fluxo 100% previsível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Responde apenas ao que foi configurado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Não interpreta linguagem natural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3904" y="1593751"/>
            <a:ext cx="1788076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3120" y="1643360"/>
            <a:ext cx="219922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FUTURO — AGENTE DE 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3904" y="191125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agente recebe um objetivo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3904" y="2335014"/>
            <a:ext cx="5232666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Cliente escreve: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"Procuro um apartamento de 2 quartos em Águas Claras, orçamento até R$ 550 mil."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agente poderá: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3904" y="3426520"/>
            <a:ext cx="5232666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Interpretar a mensagem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Identificar a intenção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Extrair os requisitos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Consultar base de imóveis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Escolher a ferramenta certa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Responder ao cliente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5547320"/>
            <a:ext cx="10868745" cy="667643"/>
          </a:xfrm>
          <a:prstGeom prst="roundRect">
            <a:avLst>
              <a:gd name="adj" fmla="val 3716"/>
            </a:avLst>
          </a:prstGeom>
          <a:solidFill>
            <a:srgbClr val="00288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787033"/>
            <a:ext cx="206667" cy="16529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98731" y="5753894"/>
            <a:ext cx="1077578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Primeiro aprenderemos a construir workflows. Depois colocaremos inteligência dentro deles.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6725"/>
            <a:ext cx="10868745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Vamos Construir ao Longo do Curso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930573"/>
            <a:ext cx="11478330" cy="138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 é uma prévia da arquitetura completa que construiremos juntos. Cada agente especializado resolverá uma tarefa específica do mercado imobiliário.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44290"/>
            <a:ext cx="8694917" cy="48530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6072981"/>
            <a:ext cx="10868745" cy="318294"/>
          </a:xfrm>
          <a:prstGeom prst="roundRect">
            <a:avLst>
              <a:gd name="adj" fmla="val 4969"/>
            </a:avLst>
          </a:prstGeom>
          <a:solidFill>
            <a:srgbClr val="00288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43" y="6169422"/>
            <a:ext cx="131759" cy="1053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3969" y="6166445"/>
            <a:ext cx="11030468" cy="138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Tudo isso será construído sobre a fundação que estamos criando hoje: </a:t>
            </a:r>
            <a:pPr algn="l" indent="0" marL="0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workflows no n8n</a:t>
            </a:r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Cada agente será um workflow com inteligência artificial.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54001"/>
            <a:ext cx="6296860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Desafio — Agora é com Você!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672431"/>
            <a:ext cx="690644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Modifique o workflow construído em aula para identificar um perfil mais específico de lead.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2014835"/>
            <a:ext cx="3088702" cy="1547713"/>
          </a:xfrm>
          <a:prstGeom prst="roundRect">
            <a:avLst>
              <a:gd name="adj" fmla="val 1362"/>
            </a:avLst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801965" y="2155329"/>
            <a:ext cx="280772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Condições do Filtro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1965" y="2446536"/>
            <a:ext cx="2807721" cy="70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Finalidade =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Compra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=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Novo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Orçamento ≥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R$ 400.000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69633" y="2014835"/>
            <a:ext cx="3088702" cy="1547713"/>
          </a:xfrm>
          <a:prstGeom prst="roundRect">
            <a:avLst>
              <a:gd name="adj" fmla="val 1362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4010123" y="2155329"/>
            <a:ext cx="280772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📧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Alterar o assunto do e-mail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010123" y="2446536"/>
            <a:ext cx="2807721" cy="97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Troque o assunto para:</a:t>
            </a:r>
            <a:endParaRPr lang="en-US" sz="1100" dirty="0"/>
          </a:p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"Lead prioritário identificado"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Mantenha o corpo do e-mail com os dados dinâmicos.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3682008"/>
            <a:ext cx="6296860" cy="1268016"/>
          </a:xfrm>
          <a:prstGeom prst="roundRect">
            <a:avLst>
              <a:gd name="adj" fmla="val 1663"/>
            </a:avLst>
          </a:prstGeom>
          <a:solidFill>
            <a:srgbClr val="26262B"/>
          </a:solidFill>
          <a:ln/>
        </p:spPr>
      </p:sp>
      <p:sp>
        <p:nvSpPr>
          <p:cNvPr id="12" name="Text 9"/>
          <p:cNvSpPr/>
          <p:nvPr/>
        </p:nvSpPr>
        <p:spPr>
          <a:xfrm>
            <a:off x="801965" y="3822502"/>
            <a:ext cx="601587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Validação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1965" y="4113709"/>
            <a:ext cx="6015879" cy="695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Execute o workflow e verifique se apenas os leads com orçamento suficiente chegam ao Gmail.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Quais registros da planilha devem passar?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5084366"/>
            <a:ext cx="6296860" cy="719634"/>
          </a:xfrm>
          <a:prstGeom prst="roundRect">
            <a:avLst>
              <a:gd name="adj" fmla="val 2930"/>
            </a:avLst>
          </a:prstGeom>
          <a:solidFill>
            <a:srgbClr val="02234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65" y="5255716"/>
            <a:ext cx="175712" cy="1404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8167" y="5238948"/>
            <a:ext cx="5699677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⏱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Tempo disponível: 15 a 20 minutos.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Utilize os slides anteriores como referência se necessário.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075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Desafio Extra — Para Quem Terminar Primeiro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875532"/>
            <a:ext cx="5470785" cy="3871615"/>
          </a:xfrm>
          <a:prstGeom prst="roundRect">
            <a:avLst>
              <a:gd name="adj" fmla="val 641"/>
            </a:avLst>
          </a:prstGeom>
          <a:solidFill>
            <a:srgbClr val="120336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04083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Nível Avançado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464594"/>
            <a:ext cx="5140196" cy="1356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Após concluir o desafio principal, adicione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mais uma condição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ao seu Filter: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highlight>
                  <a:srgbClr val="1F10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Região desejada = Águas Claras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novo conjunto de condições será: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3969544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Finalidade = Compra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= Novo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Orçamento ≥ R$ 400.000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Região = Águas Claras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0408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🤔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Para Refletir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464594"/>
            <a:ext cx="5232666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 essa nova condição, quantos registros da planilha original passarão pelo filter?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Agora tente criar um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cenário alternativo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556099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se você quisesse alertar para imóveis de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Locação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se quisesse filtrar por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de imóvel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Consegue criar uma segunda "rota" no workflow?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4651673"/>
            <a:ext cx="5232666" cy="909439"/>
          </a:xfrm>
          <a:prstGeom prst="roundRect">
            <a:avLst>
              <a:gd name="adj" fmla="val 2728"/>
            </a:avLst>
          </a:prstGeom>
          <a:solidFill>
            <a:srgbClr val="00288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198" y="4904085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41160" y="4841776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professor poderá propor variações adicionais. Explore sem medo — errar faz parte do aprendizado.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975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Quando Não Funcionar — Não Entre em Pânico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547912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Erros fazem parte do processo. A habilidade de depurar um workflow é tão importante quanto construí-lo. Siga sempre esta sequência: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159" y="1894582"/>
            <a:ext cx="210835" cy="210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8267" y="1890316"/>
            <a:ext cx="1041195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node anterior executou com sucesso?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18267" y="2181523"/>
            <a:ext cx="1041195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Verifique se o node anterior está com o indicador verde. Se estiver vermelho, o problema está antes.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159" y="2632770"/>
            <a:ext cx="210835" cy="210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8267" y="2628503"/>
            <a:ext cx="1041195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Existe Output no node anterior?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18267" y="2919710"/>
            <a:ext cx="1041195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Clique no node problemático e veja se ele recebeu dados. Output vazio = problema antes dele.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159" y="3370957"/>
            <a:ext cx="210835" cy="210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8267" y="3366691"/>
            <a:ext cx="1041195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condição do Filter está correta?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18267" y="3657898"/>
            <a:ext cx="1041195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Confira se o nome do campo no Filter é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exatamente igual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ao nome na planilha (incluindo maiúsculas).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159" y="4109145"/>
            <a:ext cx="210835" cy="2108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8267" y="4104878"/>
            <a:ext cx="1041195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credencial está conectada?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118267" y="4396085"/>
            <a:ext cx="1041195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Sheets e Gmail precisam de credenciais ativas. Verifique se a conta está autorizada.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4159" y="4847332"/>
            <a:ext cx="210835" cy="2108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8267" y="4843066"/>
            <a:ext cx="1041195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Leia a mensagem de erro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118267" y="5134273"/>
            <a:ext cx="1041195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n8n sempre exibe uma mensagem quando algo falha. Leia com atenção — ela indica exatamente o problema.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61475" y="5476677"/>
            <a:ext cx="10868745" cy="511572"/>
          </a:xfrm>
          <a:prstGeom prst="roundRect">
            <a:avLst>
              <a:gd name="adj" fmla="val 4122"/>
            </a:avLst>
          </a:prstGeom>
          <a:solidFill>
            <a:srgbClr val="00288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965" y="5648027"/>
            <a:ext cx="175712" cy="14049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18167" y="5631259"/>
            <a:ext cx="108811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🔍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Regra de ouro: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Sempre investigue o workflow da esquerda para a direita.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erro está no primeiro node que falhou.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24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Revisão — Quanto Você Aprendeu?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7867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Vamos consolidar o conhecimento com perguntas rápidas. Tente responder antes de ver a resposta!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29321"/>
            <a:ext cx="5351725" cy="1255613"/>
          </a:xfrm>
          <a:prstGeom prst="roundRect">
            <a:avLst>
              <a:gd name="adj" fmla="val 1976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19" y="2213670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1. O que é um workflow?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2571353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sequência de etapas conectadas para executar um processo automaticamente.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029321"/>
            <a:ext cx="5351725" cy="1255613"/>
          </a:xfrm>
          <a:prstGeom prst="roundRect">
            <a:avLst>
              <a:gd name="adj" fmla="val 1976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2838" y="2213670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2. O que é um node?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2571353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etapa do workflow que executa uma ação específica.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450233"/>
            <a:ext cx="5351725" cy="1255613"/>
          </a:xfrm>
          <a:prstGeom prst="roundRect">
            <a:avLst>
              <a:gd name="adj" fmla="val 1976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19" y="3634581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3. O que é um Trigger?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19" y="3992265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node que inicia o workflow, definindo quando e como ele começa.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450233"/>
            <a:ext cx="5351725" cy="1255613"/>
          </a:xfrm>
          <a:prstGeom prst="roundRect">
            <a:avLst>
              <a:gd name="adj" fmla="val 1976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2838" y="3634581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4. Qual a diferença entre Input e Output?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2838" y="3992265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 são os dados que entram no node; Output são os dados que saem dele.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871145"/>
            <a:ext cx="5351725" cy="1255613"/>
          </a:xfrm>
          <a:prstGeom prst="roundRect">
            <a:avLst>
              <a:gd name="adj" fmla="val 1976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19" y="5055493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5. Para que serve o Filter?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19" y="5413177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Decide quais registros continuam no workflow com base em condições definidas.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8495" y="4871145"/>
            <a:ext cx="5351725" cy="1255613"/>
          </a:xfrm>
          <a:prstGeom prst="roundRect">
            <a:avLst>
              <a:gd name="adj" fmla="val 1976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2838" y="5055493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6. Nossa solução de hoje é um Agente de IA?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2838" y="5413177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Não.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É uma automação baseada em regras. A IA vem nas próximas aulas.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333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Construímos Hoje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634" y="956965"/>
            <a:ext cx="7364427" cy="2763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64021" y="3018674"/>
            <a:ext cx="1110776" cy="2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Enviar Gmail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964139" y="2911683"/>
            <a:ext cx="1110776" cy="42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Editar Campos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71866" y="3018674"/>
            <a:ext cx="1110775" cy="2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Filtrar Leads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79592" y="2911683"/>
            <a:ext cx="1110776" cy="42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56887" y="2911683"/>
            <a:ext cx="1110776" cy="42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Gatilho Manual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3835797"/>
            <a:ext cx="530420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Conceitos Aprendidos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124226"/>
            <a:ext cx="106657" cy="1066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1475" y="4248547"/>
            <a:ext cx="5304201" cy="1270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2" name="Text 8"/>
          <p:cNvSpPr/>
          <p:nvPr/>
        </p:nvSpPr>
        <p:spPr>
          <a:xfrm>
            <a:off x="661475" y="4327227"/>
            <a:ext cx="530420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Workflow e Node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61475" y="4562872"/>
            <a:ext cx="530420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 básica de qualquer automação no n8n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875113"/>
            <a:ext cx="106657" cy="1066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61475" y="4999434"/>
            <a:ext cx="5304201" cy="1270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6" name="Text 11"/>
          <p:cNvSpPr/>
          <p:nvPr/>
        </p:nvSpPr>
        <p:spPr>
          <a:xfrm>
            <a:off x="661475" y="5099447"/>
            <a:ext cx="530420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Trigger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61475" y="5335091"/>
            <a:ext cx="530420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Gatilho que inicia o processo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626001"/>
            <a:ext cx="106657" cy="1066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61475" y="5750322"/>
            <a:ext cx="5304201" cy="1270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20" name="Text 14"/>
          <p:cNvSpPr/>
          <p:nvPr/>
        </p:nvSpPr>
        <p:spPr>
          <a:xfrm>
            <a:off x="661475" y="5871666"/>
            <a:ext cx="530420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Input e Output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61475" y="6107311"/>
            <a:ext cx="530420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os dados fluem entre os nodes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6232369" y="3835797"/>
            <a:ext cx="530420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Ferramentas Utilizadas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2369" y="4124226"/>
            <a:ext cx="106657" cy="1066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232369" y="4248547"/>
            <a:ext cx="5304201" cy="1270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25" name="Text 18"/>
          <p:cNvSpPr/>
          <p:nvPr/>
        </p:nvSpPr>
        <p:spPr>
          <a:xfrm>
            <a:off x="6232369" y="4327227"/>
            <a:ext cx="530420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Sheets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232369" y="4562872"/>
            <a:ext cx="530420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Leitura de dados de planilha</a:t>
            </a:r>
            <a:endParaRPr lang="en-US" sz="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2369" y="4875113"/>
            <a:ext cx="106657" cy="1066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232369" y="5009059"/>
            <a:ext cx="5304201" cy="1270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29" name="Text 21"/>
          <p:cNvSpPr/>
          <p:nvPr/>
        </p:nvSpPr>
        <p:spPr>
          <a:xfrm>
            <a:off x="6232369" y="5099447"/>
            <a:ext cx="530420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Filter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232369" y="5335091"/>
            <a:ext cx="530420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Filtragem de registros por condição</a:t>
            </a:r>
            <a:endParaRPr lang="en-US" sz="8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32369" y="5626001"/>
            <a:ext cx="106657" cy="1066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232369" y="5770662"/>
            <a:ext cx="5304201" cy="12700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33" name="Text 24"/>
          <p:cNvSpPr/>
          <p:nvPr/>
        </p:nvSpPr>
        <p:spPr>
          <a:xfrm>
            <a:off x="6232369" y="5871666"/>
            <a:ext cx="530420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Gmail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6232369" y="6107311"/>
            <a:ext cx="530420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Envio automático de notificações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23218"/>
            <a:ext cx="6296860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Próxima Aula — Aula 02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233360" y="1187053"/>
            <a:ext cx="629686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Trabalhando com Dados no n8n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1459706"/>
            <a:ext cx="629686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 construir agentes inteligentes, precisamos dominar o fluxo dos dados. Na próxima aula, aprofundaremos tudo sobre como os dados são estruturados, manipulados e transformados dentro de um workflow.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233360" y="1822053"/>
            <a:ext cx="6296860" cy="899120"/>
          </a:xfrm>
          <a:prstGeom prst="roundRect">
            <a:avLst>
              <a:gd name="adj" fmla="val 1793"/>
            </a:avLst>
          </a:prstGeom>
          <a:solidFill>
            <a:srgbClr val="26262B"/>
          </a:solidFill>
          <a:ln/>
        </p:spPr>
      </p:sp>
      <p:sp>
        <p:nvSpPr>
          <p:cNvPr id="7" name="Text 4"/>
          <p:cNvSpPr/>
          <p:nvPr/>
        </p:nvSpPr>
        <p:spPr>
          <a:xfrm>
            <a:off x="5340812" y="1929507"/>
            <a:ext cx="608195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Dados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0812" y="2139255"/>
            <a:ext cx="6081957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Items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Campos e valores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233360" y="2791023"/>
            <a:ext cx="6296860" cy="899120"/>
          </a:xfrm>
          <a:prstGeom prst="roundRect">
            <a:avLst>
              <a:gd name="adj" fmla="val 1793"/>
            </a:avLst>
          </a:prstGeom>
          <a:solidFill>
            <a:srgbClr val="26262B"/>
          </a:solidFill>
          <a:ln/>
        </p:spPr>
      </p:sp>
      <p:sp>
        <p:nvSpPr>
          <p:cNvPr id="10" name="Text 7"/>
          <p:cNvSpPr/>
          <p:nvPr/>
        </p:nvSpPr>
        <p:spPr>
          <a:xfrm>
            <a:off x="5340812" y="2898477"/>
            <a:ext cx="608195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Expressions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40812" y="3108226"/>
            <a:ext cx="6081957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Sintaxe básica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Referenciando campos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Transformações simples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233360" y="3759994"/>
            <a:ext cx="6296860" cy="899120"/>
          </a:xfrm>
          <a:prstGeom prst="roundRect">
            <a:avLst>
              <a:gd name="adj" fmla="val 1793"/>
            </a:avLst>
          </a:prstGeom>
          <a:solidFill>
            <a:srgbClr val="26262B"/>
          </a:solidFill>
          <a:ln/>
        </p:spPr>
      </p:sp>
      <p:sp>
        <p:nvSpPr>
          <p:cNvPr id="13" name="Text 10"/>
          <p:cNvSpPr/>
          <p:nvPr/>
        </p:nvSpPr>
        <p:spPr>
          <a:xfrm>
            <a:off x="5340812" y="3867448"/>
            <a:ext cx="608195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🔀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Controle de Fluxo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40812" y="4077196"/>
            <a:ext cx="6081957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e Switch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Filter avançado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Merge de dados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233360" y="4728964"/>
            <a:ext cx="6296860" cy="899120"/>
          </a:xfrm>
          <a:prstGeom prst="roundRect">
            <a:avLst>
              <a:gd name="adj" fmla="val 1793"/>
            </a:avLst>
          </a:prstGeom>
          <a:solidFill>
            <a:srgbClr val="26262B"/>
          </a:solidFill>
          <a:ln/>
        </p:spPr>
      </p:sp>
      <p:sp>
        <p:nvSpPr>
          <p:cNvPr id="16" name="Text 13"/>
          <p:cNvSpPr/>
          <p:nvPr/>
        </p:nvSpPr>
        <p:spPr>
          <a:xfrm>
            <a:off x="5340812" y="4836418"/>
            <a:ext cx="608195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Transformação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40812" y="5046166"/>
            <a:ext cx="6081957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 Fields avançado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node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Manipulação de Items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233360" y="5706666"/>
            <a:ext cx="6296860" cy="328116"/>
          </a:xfrm>
          <a:prstGeom prst="roundRect">
            <a:avLst>
              <a:gd name="adj" fmla="val 4915"/>
            </a:avLst>
          </a:prstGeom>
          <a:solidFill>
            <a:srgbClr val="00288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812" y="5810845"/>
            <a:ext cx="134339" cy="10745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82602" y="5803305"/>
            <a:ext cx="644975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💡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Para construir agentes inteligentes, primeiro precisamos aprender a fazer os dados fluírem.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7221"/>
            <a:ext cx="10868745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Distribuição das 3 Horas de Aula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823615"/>
            <a:ext cx="11478330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este guia para acompanhar o ritmo da aula. Cada bloco foi dimensionado para garantir tempo suficiente para conceitos e prática.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77503"/>
            <a:ext cx="7064595" cy="39430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7601" y="5013226"/>
            <a:ext cx="3514240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70%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61475" y="5371902"/>
            <a:ext cx="5406592" cy="13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Prática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1475" y="5532239"/>
            <a:ext cx="5406592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maior parte da aula é mão na massa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69655" y="5013226"/>
            <a:ext cx="3514339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23529" y="5371902"/>
            <a:ext cx="5406691" cy="13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Duração Total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23529" y="5532239"/>
            <a:ext cx="5406691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180 minutos de imersão em n8n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607601" y="5767685"/>
            <a:ext cx="3514240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61475" y="6126361"/>
            <a:ext cx="5406592" cy="13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Conceitos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61475" y="6286698"/>
            <a:ext cx="5406592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Fundamentos cobertos nesta aula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7069655" y="5767685"/>
            <a:ext cx="3514339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23529" y="6126361"/>
            <a:ext cx="5406691" cy="13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Automação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23529" y="6286698"/>
            <a:ext cx="5406691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Completa e funcional construída ao vivo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29295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Você Chegou ao Final da Aula 01!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3360" y="1601490"/>
            <a:ext cx="6296860" cy="1141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 processo manual à primeira automação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5233360" y="2901454"/>
            <a:ext cx="6296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Hoje você saiu de zero e construiu um workflow funcional que lê uma planilha, filtra leads qualificados e notifica automaticamente um corretor. Isso é o começo de uma jornada poderosa.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33360" y="3401516"/>
            <a:ext cx="6296860" cy="1653580"/>
          </a:xfrm>
          <a:prstGeom prst="roundRect">
            <a:avLst>
              <a:gd name="adj" fmla="val 1200"/>
            </a:avLst>
          </a:prstGeom>
          <a:solidFill>
            <a:srgbClr val="26262B"/>
          </a:solidFill>
          <a:ln/>
        </p:spPr>
      </p:sp>
      <p:sp>
        <p:nvSpPr>
          <p:cNvPr id="7" name="Shape 4"/>
          <p:cNvSpPr/>
          <p:nvPr/>
        </p:nvSpPr>
        <p:spPr>
          <a:xfrm>
            <a:off x="5233360" y="3401516"/>
            <a:ext cx="3148430" cy="922040"/>
          </a:xfrm>
          <a:custGeom>
            <a:avLst/>
            <a:gdLst/>
            <a:ahLst/>
            <a:cxnLst/>
            <a:rect l="l" t="t" r="r" b="b"/>
            <a:pathLst>
              <a:path w="3148430" h="922040">
                <a:moveTo>
                  <a:pt x="16539" y="0"/>
                </a:moveTo>
                <a:lnTo>
                  <a:pt x="3148430" y="0"/>
                </a:lnTo>
                <a:lnTo>
                  <a:pt x="3148430" y="922040"/>
                </a:lnTo>
                <a:lnTo>
                  <a:pt x="0" y="922040"/>
                </a:lnTo>
                <a:lnTo>
                  <a:pt x="0" y="16540"/>
                </a:lnTo>
                <a:arcTo hR="16540" wR="16539" stAng="10800000" swAng="5400000"/>
                <a:close/>
              </a:path>
            </a:pathLst>
          </a:cu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5365616" y="3533775"/>
            <a:ext cx="288391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Concluído Hoje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65616" y="3810298"/>
            <a:ext cx="28839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Primeira automação imobiliária funcionando do início ao fim.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381790" y="3401516"/>
            <a:ext cx="3148430" cy="922040"/>
          </a:xfrm>
          <a:custGeom>
            <a:avLst/>
            <a:gdLst/>
            <a:ahLst/>
            <a:cxnLst/>
            <a:rect l="l" t="t" r="r" b="b"/>
            <a:pathLst>
              <a:path w="3148430" h="922040">
                <a:moveTo>
                  <a:pt x="0" y="0"/>
                </a:moveTo>
                <a:lnTo>
                  <a:pt x="3131891" y="0"/>
                </a:lnTo>
                <a:arcTo hR="16540" wR="16539" stAng="16200000" swAng="5400000"/>
                <a:lnTo>
                  <a:pt x="3148430" y="922040"/>
                </a:lnTo>
                <a:lnTo>
                  <a:pt x="0" y="922040"/>
                </a:lnTo>
                <a:lnTo>
                  <a:pt x="0" y="0"/>
                </a:lnTo>
                <a:close/>
              </a:path>
            </a:pathLst>
          </a:custGeom>
          <a:solidFill>
            <a:srgbClr val="26262B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3401516"/>
            <a:ext cx="19050" cy="92204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</p:sp>
      <p:sp>
        <p:nvSpPr>
          <p:cNvPr id="12" name="Text 9"/>
          <p:cNvSpPr/>
          <p:nvPr/>
        </p:nvSpPr>
        <p:spPr>
          <a:xfrm>
            <a:off x="8514046" y="3533775"/>
            <a:ext cx="288391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Próximo Passo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14046" y="3810298"/>
            <a:ext cx="28839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Aula 02: Dados, Expressions e controle de fluxo avançado.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3360" y="4323556"/>
            <a:ext cx="6296860" cy="731540"/>
          </a:xfrm>
          <a:custGeom>
            <a:avLst/>
            <a:gdLst/>
            <a:ahLst/>
            <a:cxnLst/>
            <a:rect l="l" t="t" r="r" b="b"/>
            <a:pathLst>
              <a:path w="6296860" h="731540">
                <a:moveTo>
                  <a:pt x="0" y="0"/>
                </a:moveTo>
                <a:lnTo>
                  <a:pt x="6296860" y="0"/>
                </a:lnTo>
                <a:lnTo>
                  <a:pt x="6296860" y="715000"/>
                </a:lnTo>
                <a:arcTo hR="16540" wR="16539" stAng="0" swAng="5400000"/>
                <a:lnTo>
                  <a:pt x="16539" y="731540"/>
                </a:lnTo>
                <a:arcTo hR="16540" wR="16539" stAng="5400000" swAng="5400000"/>
                <a:lnTo>
                  <a:pt x="0" y="0"/>
                </a:lnTo>
                <a:close/>
              </a:path>
            </a:pathLst>
          </a:custGeom>
          <a:solidFill>
            <a:srgbClr val="26262B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3360" y="4323556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</p:sp>
      <p:sp>
        <p:nvSpPr>
          <p:cNvPr id="16" name="Text 13"/>
          <p:cNvSpPr/>
          <p:nvPr/>
        </p:nvSpPr>
        <p:spPr>
          <a:xfrm>
            <a:off x="5365616" y="4455815"/>
            <a:ext cx="603234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Destino Final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5616" y="4732338"/>
            <a:ext cx="60323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Agentes de IA autônomos para o mercado imobiliário.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33360" y="5174159"/>
            <a:ext cx="6296860" cy="654447"/>
          </a:xfrm>
          <a:prstGeom prst="roundRect">
            <a:avLst>
              <a:gd name="adj" fmla="val 3033"/>
            </a:avLst>
          </a:prstGeom>
          <a:solidFill>
            <a:srgbClr val="00288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616" y="5330527"/>
            <a:ext cx="165294" cy="1322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3165" y="5312966"/>
            <a:ext cx="57348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🏠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Lembre-se: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Cada grande agente de IA começa com um simples workflow. Você já deu o primeiro passo.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2026-08-10T21:54:19Z</dcterms:created>
  <dcterms:modified xsi:type="dcterms:W3CDTF">2026-08-10T21:54:19Z</dcterms:modified>
</cp:coreProperties>
</file>