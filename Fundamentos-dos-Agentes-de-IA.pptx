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image" Target="../media/image-16-4.png"/><Relationship Id="rId5" Type="http://schemas.openxmlformats.org/officeDocument/2006/relationships/image" Target="../media/image-16-5.svg"/><Relationship Id="rId6" Type="http://schemas.openxmlformats.org/officeDocument/2006/relationships/image" Target="../media/image-16-6.png"/><Relationship Id="rId7" Type="http://schemas.openxmlformats.org/officeDocument/2006/relationships/image" Target="../media/image-1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image" Target="../media/image-19-4.png"/><Relationship Id="rId5" Type="http://schemas.openxmlformats.org/officeDocument/2006/relationships/image" Target="../media/image-19-5.svg"/><Relationship Id="rId6" Type="http://schemas.openxmlformats.org/officeDocument/2006/relationships/image" Target="../media/image-19-6.png"/><Relationship Id="rId7" Type="http://schemas.openxmlformats.org/officeDocument/2006/relationships/image" Target="../media/image-1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2482552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Fundamentos dos Agentes de IA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306086" y="3065959"/>
            <a:ext cx="615140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Projeto Integrador com o Setor Imobiliário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306086" y="3596283"/>
            <a:ext cx="6760993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Aula presencial · 3 horas · Curso Técnico em Inteligência Artificial — SENAC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306086" y="4096445"/>
            <a:ext cx="3196351" cy="279003"/>
          </a:xfrm>
          <a:prstGeom prst="roundRect">
            <a:avLst>
              <a:gd name="adj" fmla="val 78956"/>
            </a:avLst>
          </a:prstGeom>
          <a:solidFill>
            <a:srgbClr val="004D3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216" y="4162524"/>
            <a:ext cx="146840" cy="1468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36476" y="4151511"/>
            <a:ext cx="3365416" cy="168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TURMA DE IA + TRANSAÇÕES IMOBILIÁRIAS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1000919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Contexto: O Projeto Integrador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173930" y="1786235"/>
            <a:ext cx="3445979" cy="4070747"/>
          </a:xfrm>
          <a:prstGeom prst="roundRect">
            <a:avLst>
              <a:gd name="adj" fmla="val 12785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357480" y="1969790"/>
            <a:ext cx="307887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é este projeto?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57480" y="2408337"/>
            <a:ext cx="3078879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Esta aula faz parte de um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Projeto Integrador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que une duas turmas do SENAC: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Técnico em IA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Técnico em Transações Imobiliárias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Juntos, vocês vão construir soluções reais para um setor que está sendo transformado pela inteligência artificial.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41965" y="1969790"/>
            <a:ext cx="2521780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esperamos de vocês?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41965" y="2663329"/>
            <a:ext cx="2521780" cy="3129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Compreender os fundamentos dos Agentes de IA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Conectar tecnologia a problemas reais do mercado imobiliário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Planejar e documentar um agente funcional em grupo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Apresentar o projeto para a turma de Transações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89546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Conceito Central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617960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é um Agente de IA?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4200" y="2568476"/>
            <a:ext cx="513771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Agente de IA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é um sistema que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percebe o ambiente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toma decisões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executa ações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 forma autônoma para atingir um objetivo — sem precisar que um humano dê cada instrução.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4200" y="3656013"/>
            <a:ext cx="5137716" cy="1009452"/>
          </a:xfrm>
          <a:prstGeom prst="roundRect">
            <a:avLst>
              <a:gd name="adj" fmla="val 27278"/>
            </a:avLst>
          </a:prstGeom>
          <a:solidFill>
            <a:srgbClr val="0080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750" y="3940671"/>
            <a:ext cx="229388" cy="1835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30689" y="3867051"/>
            <a:ext cx="4357678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Pense num assistente que não só responde perguntas, mas age, resolve e aprende com o resultado.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26128" y="2609751"/>
            <a:ext cx="2477033" cy="1431131"/>
          </a:xfrm>
          <a:prstGeom prst="roundRect">
            <a:avLst>
              <a:gd name="adj" fmla="val 19241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28728" y="2812355"/>
            <a:ext cx="207183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👁️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Percebe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28728" y="3250902"/>
            <a:ext cx="207183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Lê mensagens, arquivos, dados do ambiente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986712" y="2609751"/>
            <a:ext cx="2477133" cy="1431131"/>
          </a:xfrm>
          <a:prstGeom prst="roundRect">
            <a:avLst>
              <a:gd name="adj" fmla="val 19241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89312" y="2812355"/>
            <a:ext cx="207193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Decide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89312" y="3250902"/>
            <a:ext cx="207193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Raciocina com base em instruções e contexto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26128" y="4224437"/>
            <a:ext cx="5137716" cy="1137444"/>
          </a:xfrm>
          <a:prstGeom prst="roundRect">
            <a:avLst>
              <a:gd name="adj" fmla="val 2420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28728" y="4427041"/>
            <a:ext cx="4732517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Age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28728" y="4865588"/>
            <a:ext cx="4732517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Busca dados, envia respostas, aciona ferramentas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86309"/>
            <a:ext cx="10723294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Chatbot × Automação × Workflow × Agente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34200" y="1601986"/>
            <a:ext cx="1133287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Muita gente confunde esses conceitos. Veja as diferenças na prática: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2060377"/>
            <a:ext cx="5278802" cy="17868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2785" y="2168029"/>
            <a:ext cx="261534" cy="326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27573" y="2768203"/>
            <a:ext cx="489205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Chatbot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27573" y="3109714"/>
            <a:ext cx="489205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Responde perguntas com respostas fixas ou scripts pré-definidos.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 raciocínio real.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Ex: FAQ de um site imobiliário.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594" y="2060377"/>
            <a:ext cx="5278901" cy="17868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7277" y="2168029"/>
            <a:ext cx="261534" cy="326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6371966" y="2768203"/>
            <a:ext cx="489215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Automação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371966" y="3109714"/>
            <a:ext cx="4892156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Executa tarefas repetitivas quando acionada por um gatilho.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Sem adaptação.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Ex: envio automático de e-mail ao cadastrar imóvel.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4012803"/>
            <a:ext cx="5278802" cy="2058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42785" y="4120455"/>
            <a:ext cx="261534" cy="326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927573" y="4720630"/>
            <a:ext cx="4892057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Workflow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27573" y="5062141"/>
            <a:ext cx="4892057" cy="544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Sequência estruturada de etapas com lógica condicional.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Fluxo definido.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Ex: processo de aprovação de contrato.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594" y="4012803"/>
            <a:ext cx="5278901" cy="20588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7277" y="4120455"/>
            <a:ext cx="261534" cy="3269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2050" dirty="0"/>
          </a:p>
        </p:txBody>
      </p:sp>
      <p:sp>
        <p:nvSpPr>
          <p:cNvPr id="18" name="Text 12"/>
          <p:cNvSpPr/>
          <p:nvPr/>
        </p:nvSpPr>
        <p:spPr>
          <a:xfrm>
            <a:off x="6371966" y="4720630"/>
            <a:ext cx="4892156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 de IA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371966" y="5062141"/>
            <a:ext cx="4892156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Raciocina sobre o objetivo, escolhe ferramentas e age com autonomia. </a:t>
            </a:r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Adaptativo e contextual.</a:t>
            </a:r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Ex: qualificar um cliente e sugerir imóveis automaticamente.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726579"/>
            <a:ext cx="615140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Diferencial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306086" y="1054993"/>
            <a:ext cx="6151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torna um sistema realmente agêntico?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6086" y="2350294"/>
            <a:ext cx="367100" cy="3671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02574" y="2413397"/>
            <a:ext cx="555492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Orientação por objetivo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902574" y="2778522"/>
            <a:ext cx="5554920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agente recebe um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objetivo final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 planeja os passos para atingi-lo — não apenas executa comandos.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6086" y="3733006"/>
            <a:ext cx="367100" cy="3671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02574" y="3796109"/>
            <a:ext cx="555492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Uso autônomo de ferramentas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5902574" y="4161234"/>
            <a:ext cx="5554920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Decide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quais ferramentas usar e quando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buscar documentos, consultar banco de dados, enviar mensagens.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6086" y="5115719"/>
            <a:ext cx="367100" cy="36710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02574" y="5178822"/>
            <a:ext cx="555492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Ciclo de retroalimentação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902574" y="5543947"/>
            <a:ext cx="5554920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Observa o resultado de cada ação 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ajusta a próxima decisão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com base no que aconteceu.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45220"/>
            <a:ext cx="1072329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Anatomia de um Agente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4200" y="877689"/>
            <a:ext cx="10723294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Componentes Essenciais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415058"/>
            <a:ext cx="8042471" cy="44888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200" y="6019998"/>
            <a:ext cx="11332879" cy="192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Todos esses componentes trabalham juntos. Sem instruções claras, o modelo erra. Sem ferramentas, o agente não age. Sem memória, ele esquece o contexto a cada mensagem.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47005"/>
            <a:ext cx="10723294" cy="229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Exemplo Prático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4200" y="935831"/>
            <a:ext cx="10723294" cy="458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 Imobiliário Atendendo um Cliente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734200" y="1617762"/>
            <a:ext cx="1133287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Imagine um cliente enviando uma mensagem: </a:t>
            </a:r>
            <a:pPr algn="l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"Procuro um apartamento de 2 quartos, até R$ 450.000, no Bairro das Laranjeiras."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4944" y="2036068"/>
            <a:ext cx="9341807" cy="35054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72982" y="4585017"/>
            <a:ext cx="1408997" cy="48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Registra preferências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97259" y="4705653"/>
            <a:ext cx="1408997" cy="24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Envia lista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31187" y="4585017"/>
            <a:ext cx="1408997" cy="48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Consulta imóveis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65114" y="4705653"/>
            <a:ext cx="1408997" cy="241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Extrai dados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860440" y="4585017"/>
            <a:ext cx="1408998" cy="482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Recebe mensagem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4200" y="5708848"/>
            <a:ext cx="10723294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agente executa todas essas etapas de forma autônoma, sem que o corretor precise intervir em cada passo. O resultado: atendimento mais rápido, disponível 24h e com dados organizados para o time comercial.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39266"/>
            <a:ext cx="10723294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Ciclo do Agente: Percepção → Decisão → Ação → Observação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228229"/>
            <a:ext cx="8042471" cy="4488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5833170"/>
            <a:ext cx="10723294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Esse ciclo pode se repetir várias vezes dentro de uma única tarefa. Quanto mais voltas o agente dá, mais complexo é o problema que ele consegue resolver — mas também maior o risco de erros se não houver controle.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81187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Espectro de Autonomia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409601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Autonomia: Baixa, Média e Alta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194917"/>
            <a:ext cx="3574365" cy="7342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7750" y="3112691"/>
            <a:ext cx="320726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Baixa Autonomia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7750" y="3477816"/>
            <a:ext cx="3207265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agente sugere, mas o humano aprova cada ação. Ex: propõe uma resposta ao cliente, mas o corretor envia.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8566" y="2194917"/>
            <a:ext cx="3574464" cy="7342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2116" y="3112691"/>
            <a:ext cx="320736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🟡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Média Autonomia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492116" y="3477816"/>
            <a:ext cx="3207364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 de forma independente em tarefas rotineiras e aciona humano em situações complexas. Ex: qualifica leads, escala negociações.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030" y="2194917"/>
            <a:ext cx="3574365" cy="73421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6580" y="3112691"/>
            <a:ext cx="320726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Alta Autonomia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66580" y="3477816"/>
            <a:ext cx="3207265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Executa todo o fluxo sem supervisão, incluindo decisões relevantes. Requer maior confiabilidade e monitoramento.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734200" y="5042595"/>
            <a:ext cx="10723294" cy="734120"/>
          </a:xfrm>
          <a:prstGeom prst="roundRect">
            <a:avLst>
              <a:gd name="adj" fmla="val 37509"/>
            </a:avLst>
          </a:prstGeom>
          <a:solidFill>
            <a:srgbClr val="4B3F0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750" y="5308203"/>
            <a:ext cx="229388" cy="18355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30689" y="5271988"/>
            <a:ext cx="1055284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Mais autonomia = mais eficiência, mas também mais risco. Para o setor imobiliário, comece com autonomia baixa a média.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696516"/>
            <a:ext cx="615140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Governança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4200" y="1024930"/>
            <a:ext cx="6151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Limites de Atuação de um Agente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34200" y="2503785"/>
            <a:ext cx="28517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o agente PODE fazer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4200" y="2942332"/>
            <a:ext cx="2851773" cy="289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Responder perguntas sobre imóveis disponíveis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Filtrar e recomendar imóveis conforme perfil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Agendar visitas e enviar confirmações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Consultar e resumir documentos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Registrar dados no CRM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40186" y="2503785"/>
            <a:ext cx="285177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o agente NÃO deve fazer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40186" y="3197324"/>
            <a:ext cx="2851773" cy="289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Assinar contratos ou tomar decisões legais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Negociar preços sem aprovação humana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Compartilhar dados pessoais de terceiros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Oferecer garantias ou promessas formais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Agir sem escopo definido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548779"/>
            <a:ext cx="1072329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4200" y="781248"/>
            <a:ext cx="10723294" cy="38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 Único × Sistema Multiagente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318617"/>
            <a:ext cx="8042471" cy="44888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200" y="5923558"/>
            <a:ext cx="10723294" cy="385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Para o Projeto Integrador, vocês vão começar com um </a:t>
            </a:r>
            <a:pPr algn="l" indent="0" marL="0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agente único bem definido</a:t>
            </a:r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Sistemas multiagente são o próximo passo — quando a complexidade do problema exige especialização distribuída.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743347"/>
            <a:ext cx="615140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Aplicações Reais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34200" y="1051719"/>
            <a:ext cx="6151409" cy="484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Agentes no Setor Imobiliário</a:t>
            </a:r>
            <a:endParaRPr lang="en-US" sz="3050" dirty="0"/>
          </a:p>
        </p:txBody>
      </p:sp>
      <p:sp>
        <p:nvSpPr>
          <p:cNvPr id="5" name="Shape 2"/>
          <p:cNvSpPr/>
          <p:nvPr/>
        </p:nvSpPr>
        <p:spPr>
          <a:xfrm>
            <a:off x="734200" y="1784548"/>
            <a:ext cx="1940075" cy="2475409"/>
          </a:xfrm>
          <a:prstGeom prst="roundRect">
            <a:avLst>
              <a:gd name="adj" fmla="val 1348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27573" y="1977926"/>
            <a:ext cx="523167" cy="523180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436" y="2121793"/>
            <a:ext cx="235341" cy="2353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7573" y="2666702"/>
            <a:ext cx="1553330" cy="484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Qualificação de Clientes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27573" y="3250406"/>
            <a:ext cx="1553330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Coleta perfil, renda e preferências automaticamente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2839867" y="1784548"/>
            <a:ext cx="1940075" cy="2475409"/>
          </a:xfrm>
          <a:prstGeom prst="roundRect">
            <a:avLst>
              <a:gd name="adj" fmla="val 13484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033240" y="1977926"/>
            <a:ext cx="523167" cy="523180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7103" y="2121793"/>
            <a:ext cx="235341" cy="2353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33240" y="2666702"/>
            <a:ext cx="1553330" cy="484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Recomendação de Imóveis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3033240" y="3250406"/>
            <a:ext cx="1553330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Filtra e sugere opções compatíveis com o cliente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4945534" y="1784548"/>
            <a:ext cx="1940075" cy="2475409"/>
          </a:xfrm>
          <a:prstGeom prst="roundRect">
            <a:avLst>
              <a:gd name="adj" fmla="val 13484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38907" y="1977926"/>
            <a:ext cx="523167" cy="523180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82770" y="2121793"/>
            <a:ext cx="235341" cy="23534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38907" y="2666702"/>
            <a:ext cx="1553330" cy="484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Consulta de Documentos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138907" y="3250406"/>
            <a:ext cx="1553330" cy="816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Responde perguntas sobre contratos e certidões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734200" y="4425553"/>
            <a:ext cx="6151409" cy="1689100"/>
          </a:xfrm>
          <a:prstGeom prst="roundRect">
            <a:avLst>
              <a:gd name="adj" fmla="val 15487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927573" y="4618930"/>
            <a:ext cx="523167" cy="523180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1436" y="4762798"/>
            <a:ext cx="235341" cy="23534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27573" y="5307707"/>
            <a:ext cx="5764664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Apoio ao Corretor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927573" y="5649218"/>
            <a:ext cx="5764664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Resume conversas, sugere argumentos e agenda reuniões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139527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Caso de Uso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467941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 para Qualificação de Clientes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2044" y="2253258"/>
            <a:ext cx="4843441" cy="3465215"/>
          </a:xfrm>
          <a:prstGeom prst="roundRect">
            <a:avLst>
              <a:gd name="adj" fmla="val 12714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5594" y="2436813"/>
            <a:ext cx="447634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Problema resolvido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5594" y="2875359"/>
            <a:ext cx="4476340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Corretores perdem horas qualificando leads manualmente. Muitos clientes somem antes de responder um formulário longo.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5594" y="3939977"/>
            <a:ext cx="447634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Como o agente ajuda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5594" y="4378523"/>
            <a:ext cx="4476340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Inicia conversa natural via WhatsApp ou chat, extrai informações-chave (orçamento, localização, tipo de imóvel, urgência) e classifica o lead automaticamente no CRM.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7541" y="2436813"/>
            <a:ext cx="569620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Fluxo simplificado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7541" y="2875359"/>
            <a:ext cx="5696204" cy="1954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Entrada: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mensagem inicial do cliente ("Tenho interesse em imóveis na Zona Sul")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Ação: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faz perguntas contextuais e registra respostas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Saída: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ficha de qualificação + score do lead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Escalonamento: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leads quentes são enviados para o corretor imediatamente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374279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Caso de Uso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702693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 para Recomendação de Imóveis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488009"/>
            <a:ext cx="1984425" cy="12264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200" y="3943846"/>
            <a:ext cx="34214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Entrada do Cliente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4200" y="4308971"/>
            <a:ext cx="3421473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cliente informa preferências: tipo, bairro, valor máximo, número de quartos e características especiais (pet-friendly, varanda, vaga de garagem).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061" y="2488009"/>
            <a:ext cx="1984425" cy="12264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061" y="3943846"/>
            <a:ext cx="3421473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Consulta Inteligente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85061" y="4308971"/>
            <a:ext cx="3421473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agente acessa o banco de dados da imobiliária e aplica filtros semânticos — entende que "perto do metrô" significa raio máximo de 500m de uma estação.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922" y="2488009"/>
            <a:ext cx="1984425" cy="12264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35922" y="3943846"/>
            <a:ext cx="342157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Recomendação Personalizada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35922" y="4308971"/>
            <a:ext cx="3421572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Envia 3 opções com fotos, descrição e link para tour virtual. Registra o feedback do cliente para refinar as próximas sugestões.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19373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Caso de Uso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347788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 para Consulta a Documentos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4200" y="2316659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desafio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4200" y="2755205"/>
            <a:ext cx="513771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Clientes e corretores têm dúvidas constantes sobre contratos, escrituras, certidões e cláusulas específicas. Ler e interpretar esses documentos consome tempo e exige atenção técnica.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4200" y="3819823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o agente faz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4200" y="4258370"/>
            <a:ext cx="5137716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Usando técnica de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RAG (Retrieval-Augmented Generation)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o agente indexa os documentos da imobiliária e responde perguntas em linguagem natural, citando a fonte exata.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26128" y="2316659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Exemplos de perguntas respondidas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6128" y="2755205"/>
            <a:ext cx="5137716" cy="1367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"Qual é o prazo de rescisão deste contrato?"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"O imóvel possui dívidas de IPTU?"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"Quais documentos preciso para financiamento?"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"O que acontece em caso de atraso na entrega?"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6128" y="4329013"/>
            <a:ext cx="5137716" cy="1303139"/>
          </a:xfrm>
          <a:prstGeom prst="roundRect">
            <a:avLst>
              <a:gd name="adj" fmla="val 21131"/>
            </a:avLst>
          </a:prstGeom>
          <a:solidFill>
            <a:srgbClr val="00805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9679" y="4613672"/>
            <a:ext cx="229388" cy="18355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22617" y="4540052"/>
            <a:ext cx="4357678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agente sempre indica que respostas sobre documentos jurídicos devem ser confirmadas com um profissional habilitado.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1031478"/>
            <a:ext cx="615140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Caso de Uso 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4200" y="1359892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 para Apoio ao Corretor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2145209"/>
            <a:ext cx="1928070" cy="36812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4747" y="2354163"/>
            <a:ext cx="140857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Resumo de conversas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44747" y="2974280"/>
            <a:ext cx="1408573" cy="2349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Ao abrir o CRM, o corretor recebe um resumo automático de cada cliente: histórico, preferências e última interação.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5820" y="2145209"/>
            <a:ext cx="1928070" cy="36812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156367" y="2354163"/>
            <a:ext cx="140857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Sugestão de argumentos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3156367" y="2974280"/>
            <a:ext cx="1408573" cy="1762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Com base no perfil do cliente, o agente sugere pontos de venda relevantes para o imóvel indicado.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57440" y="2145209"/>
            <a:ext cx="1928070" cy="36812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67987" y="2354163"/>
            <a:ext cx="140857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Agendamento automático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267987" y="2974280"/>
            <a:ext cx="1408573" cy="2643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agente acessa a agenda do corretor e propõe horários disponíveis para visitas, confirmando com o cliente via WhatsApp.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752699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Atenção!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2081113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Riscos que Todo Desenvolvedor Precisa Conhecer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4200" y="2866430"/>
            <a:ext cx="10723294" cy="2238772"/>
          </a:xfrm>
          <a:prstGeom prst="roundRect">
            <a:avLst>
              <a:gd name="adj" fmla="val 12300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3250" y="2885480"/>
            <a:ext cx="3561666" cy="2200672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6" name="Text 4"/>
          <p:cNvSpPr/>
          <p:nvPr/>
        </p:nvSpPr>
        <p:spPr>
          <a:xfrm>
            <a:off x="936800" y="3069034"/>
            <a:ext cx="319456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🧠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Alucinação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6800" y="3434159"/>
            <a:ext cx="3194565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modelo inventa informações com aparência de verdade. Ex: citar um imóvel que não existe ou uma lei que foi revogada.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Mitigação: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use RAG e fontes confiáveis.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14915" y="2885480"/>
            <a:ext cx="3561765" cy="2200672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9" name="Shape 7"/>
          <p:cNvSpPr/>
          <p:nvPr/>
        </p:nvSpPr>
        <p:spPr>
          <a:xfrm>
            <a:off x="4314915" y="2885480"/>
            <a:ext cx="25399" cy="2200672"/>
          </a:xfrm>
          <a:prstGeom prst="roundRect">
            <a:avLst>
              <a:gd name="adj" fmla="val 1084147"/>
            </a:avLst>
          </a:prstGeom>
          <a:solidFill>
            <a:srgbClr val="0FC3C0"/>
          </a:solidFill>
          <a:ln/>
        </p:spPr>
      </p:sp>
      <p:sp>
        <p:nvSpPr>
          <p:cNvPr id="10" name="Text 8"/>
          <p:cNvSpPr/>
          <p:nvPr/>
        </p:nvSpPr>
        <p:spPr>
          <a:xfrm>
            <a:off x="4498466" y="3069034"/>
            <a:ext cx="319466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Ações Indevidas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8466" y="3434159"/>
            <a:ext cx="3194665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agente age além do escopo definido, causando problemas operacionais ou legais.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Mitigação: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defina limites claros no system prompt e use confirmação humana.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76680" y="2885480"/>
            <a:ext cx="3561765" cy="2200672"/>
          </a:xfrm>
          <a:prstGeom prst="rect">
            <a:avLst/>
          </a:prstGeom>
          <a:solidFill>
            <a:srgbClr val="0A081B"/>
          </a:solidFill>
          <a:ln/>
        </p:spPr>
      </p:sp>
      <p:sp>
        <p:nvSpPr>
          <p:cNvPr id="13" name="Shape 11"/>
          <p:cNvSpPr/>
          <p:nvPr/>
        </p:nvSpPr>
        <p:spPr>
          <a:xfrm>
            <a:off x="7876680" y="2885480"/>
            <a:ext cx="25399" cy="2200672"/>
          </a:xfrm>
          <a:prstGeom prst="roundRect">
            <a:avLst>
              <a:gd name="adj" fmla="val 1084147"/>
            </a:avLst>
          </a:prstGeom>
          <a:solidFill>
            <a:srgbClr val="1D8DCD"/>
          </a:solidFill>
          <a:ln/>
        </p:spPr>
      </p:sp>
      <p:sp>
        <p:nvSpPr>
          <p:cNvPr id="14" name="Text 12"/>
          <p:cNvSpPr/>
          <p:nvPr/>
        </p:nvSpPr>
        <p:spPr>
          <a:xfrm>
            <a:off x="8060230" y="3069034"/>
            <a:ext cx="3194665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🔒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Dados Pessoais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60230" y="3434159"/>
            <a:ext cx="3194665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Agentes lidam com CPF, renda, endereços — dados sensíveis sob a LGPD.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Mitigação: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criptografia, minimização de dados e consentimento explícito.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65159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Quando o Agente Deve Acionar um Humano?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2044" y="2436912"/>
            <a:ext cx="4284853" cy="2769394"/>
          </a:xfrm>
          <a:prstGeom prst="roundRect">
            <a:avLst>
              <a:gd name="adj" fmla="val 15909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85594" y="2620466"/>
            <a:ext cx="3917753" cy="716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85594" y="3520380"/>
            <a:ext cx="3917753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Escalonamento é uma feature, não uma falha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5594" y="4213920"/>
            <a:ext cx="3917753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 bom agente sabe quando ele não sabe — e transfere para um humano sem frustrar o cliente.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08953" y="2620466"/>
            <a:ext cx="6254792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Situações que exigem intervenção humana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08953" y="3059013"/>
            <a:ext cx="6254792" cy="2083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Negociação de valores acima de um limite pré-definido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Conflito de informações ou dados contraditórios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Cliente demonstrando frustração ou insatisfação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Solicitações fora do escopo do agente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Dúvidas jurídicas que exigem advogado ou CRECI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Situações de emergência ou urgência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541040"/>
            <a:ext cx="6151409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Responsabilidade Profissional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4200" y="869454"/>
            <a:ext cx="6151409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Cuidados Éticos e Profissionais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200" y="1654770"/>
            <a:ext cx="367100" cy="3671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30689" y="1717873"/>
            <a:ext cx="555492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Transparência com o usuário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330689" y="2082998"/>
            <a:ext cx="5554920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cliente deve saber que está falando com um agente de IA. Nunca disfarce o agente como humano — isso fere a confiança e pode gerar problemas legais.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3331170"/>
            <a:ext cx="367100" cy="3671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30689" y="3394273"/>
            <a:ext cx="555492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Conformidade com a LGPD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330689" y="3759398"/>
            <a:ext cx="5554920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Todo dado coletado pelo agente precisa de base legal, consentimento informado e política de retenção clara. O desenvolvedor é corresponsável pelo uso dos dados.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5007570"/>
            <a:ext cx="367100" cy="36710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30689" y="5070673"/>
            <a:ext cx="555492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Supervisão humana contínua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330689" y="5435798"/>
            <a:ext cx="5554920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Agentes em produção precisam de monitoramento regular. Erros podem escalar rapidamente se não houver auditoria das respostas e ações.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83196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Mão na Massa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611610"/>
            <a:ext cx="10723294" cy="51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Atividade Prática em Grupo </a:t>
            </a:r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2044" y="2403277"/>
            <a:ext cx="4843441" cy="3171527"/>
          </a:xfrm>
          <a:prstGeom prst="roundRect">
            <a:avLst>
              <a:gd name="adj" fmla="val 13892"/>
            </a:avLst>
          </a:prstGeom>
          <a:solidFill>
            <a:srgbClr val="16FFBB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5594" y="2586831"/>
            <a:ext cx="447634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Desafio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5594" y="3025378"/>
            <a:ext cx="4476340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grupo vai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planejar um Agente de IA para o setor imobiliário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Vocês terão 45 minutos para preencher o Documento de Projeto e apresentar um pitch de 5 minutos para a turma.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5594" y="4383683"/>
            <a:ext cx="447634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Formação dos grupos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5594" y="4822230"/>
            <a:ext cx="4476340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Grupos de 3 a 4 pessoas. Misture alunos de IA com alunos de Transações Imobiliárias quando possível.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7541" y="2586831"/>
            <a:ext cx="569620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Cada grupo escolhe UM agente para projetar: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67541" y="3025378"/>
            <a:ext cx="5696204" cy="1756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🏠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Agente de qualificação de clientes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🔍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Agente de recomendação de imóveis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📄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Agente de consulta a documentos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🤝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Agente de apoio ao corretor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💡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Agente inovador (proposta do grupo)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269901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Documento do Projeto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598315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Modelo Inicial: O que Preencher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4200" y="2383631"/>
            <a:ext cx="10723294" cy="3204369"/>
          </a:xfrm>
          <a:prstGeom prst="roundRect">
            <a:avLst>
              <a:gd name="adj" fmla="val 8593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4200" y="2919809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4200" y="3452813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3985816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4200" y="4518819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4200" y="5051822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1840" y="2389981"/>
            <a:ext cx="3569404" cy="529828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11" name="Text 9"/>
          <p:cNvSpPr/>
          <p:nvPr/>
        </p:nvSpPr>
        <p:spPr>
          <a:xfrm>
            <a:off x="925390" y="2506464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Campo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11244" y="2389981"/>
            <a:ext cx="3569404" cy="529828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13" name="Text 11"/>
          <p:cNvSpPr/>
          <p:nvPr/>
        </p:nvSpPr>
        <p:spPr>
          <a:xfrm>
            <a:off x="4494795" y="2506464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 que descrever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80649" y="2389981"/>
            <a:ext cx="3569404" cy="529828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15" name="Text 13"/>
          <p:cNvSpPr/>
          <p:nvPr/>
        </p:nvSpPr>
        <p:spPr>
          <a:xfrm>
            <a:off x="8064199" y="2506464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Exemplo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5390" y="3039467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Usuário principal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4795" y="3039467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Quem vai interagir com o agente?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64199" y="3039467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Cliente em busca de imóvel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390" y="3572470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Problema atendido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94795" y="3572470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Qual dor o agente resolve?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64199" y="3572470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Demora na qualificação de leads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90" y="4105473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Entradas esperadas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94795" y="4105473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dados o agente recebe?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64199" y="4105473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Mensagem de texto, preferências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5390" y="4638477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Respostas esperadas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94795" y="4638477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que o agente deve gerar?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64199" y="4638477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Ficha de qualificação + score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5390" y="5171480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Ferramentas necessárias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94795" y="5171480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sistemas o agente acessa?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64199" y="5171480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CRM, WhatsApp API, banco de imóveis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682526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Documento do Projeto — continuação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010940"/>
            <a:ext cx="10723294" cy="5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Mais Campos para Preencher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4200" y="1796256"/>
            <a:ext cx="10723294" cy="4379119"/>
          </a:xfrm>
          <a:prstGeom prst="roundRect">
            <a:avLst>
              <a:gd name="adj" fmla="val 628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4200" y="2332434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4200" y="3159125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4200" y="3985816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4200" y="4812506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4200" y="5639197"/>
            <a:ext cx="10723294" cy="1147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1840" y="1802606"/>
            <a:ext cx="3569404" cy="529828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1" name="Text 9"/>
          <p:cNvSpPr/>
          <p:nvPr/>
        </p:nvSpPr>
        <p:spPr>
          <a:xfrm>
            <a:off x="925390" y="1919089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Campo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11244" y="1802606"/>
            <a:ext cx="3569404" cy="529828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3" name="Text 11"/>
          <p:cNvSpPr/>
          <p:nvPr/>
        </p:nvSpPr>
        <p:spPr>
          <a:xfrm>
            <a:off x="4494795" y="1919089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 que descrever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80649" y="1802606"/>
            <a:ext cx="3569404" cy="529828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5" name="Text 13"/>
          <p:cNvSpPr/>
          <p:nvPr/>
        </p:nvSpPr>
        <p:spPr>
          <a:xfrm>
            <a:off x="8064199" y="1919089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Exemplo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5390" y="2452092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Dados necessários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94795" y="2452092"/>
            <a:ext cx="320230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Quais informações o agente precisa armazenar?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64199" y="2452092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Nome, CPF, renda, preferências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5390" y="3278783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Limites de atuação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94795" y="3278783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que o agente NÃO pode fazer?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64199" y="3278783"/>
            <a:ext cx="320230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Não negocia preço, não assina contratos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5390" y="4105473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Intervenção humana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94795" y="4105473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Quando escalar para o corretor?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64199" y="4105473"/>
            <a:ext cx="320230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Lead quente, reclamação, dúvida jurídica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5390" y="4932164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Riscos e proteções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94795" y="4932164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Que riscos existem e como mitigar?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64199" y="4932164"/>
            <a:ext cx="3202304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Alucinação → RAG; LGPD → consentimento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5390" y="5758855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Arquitetura preliminar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94795" y="5758855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Desenhe o fluxo básico do agente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64199" y="5758855"/>
            <a:ext cx="3811889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Diagrama de entradas, ciclo e saídas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1046063"/>
            <a:ext cx="10723294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Antes de Entregar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4200" y="1374477"/>
            <a:ext cx="10723294" cy="516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Checklist da Entrega </a:t>
            </a:r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4200" y="2349698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Documento de Projeto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4200" y="2788245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Usuário principal identificado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4200" y="2843213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4200" y="3146127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Problema claramente descrito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4200" y="3201095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4200" y="3504009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Entradas e saídas especificadas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4200" y="3558977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4200" y="3861891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Ferramentas e dados listados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4200" y="3916859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200" y="4219773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Limites de atuação definidos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4200" y="4274741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6128" y="2349698"/>
            <a:ext cx="5137716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Qualidade e Responsabilidade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26128" y="2788245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Situações de escalonamento descritas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26128" y="2843213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6128" y="3146127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Riscos identificados e mitigações propostas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6128" y="3201095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6128" y="3504009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Arquitetura preliminar desenhada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26128" y="3558977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6128" y="3861891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Apresentação preparada (5 min)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26128" y="3916859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6128" y="4219773"/>
            <a:ext cx="5747301" cy="293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84480" indent="-284480">
              <a:lnSpc>
                <a:spcPct val="133000"/>
              </a:lnSpc>
              <a:buSzPct val="100000"/>
              <a:buChar char="​"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Todos do grupo participaram ativamente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6128" y="4274741"/>
            <a:ext cx="183550" cy="183555"/>
          </a:xfrm>
          <a:prstGeom prst="ellipse">
            <a:avLst/>
          </a:prstGeom>
          <a:noFill/>
          <a:ln w="19050">
            <a:solidFill>
              <a:srgbClr val="16FFB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4200" y="4784130"/>
            <a:ext cx="10723294" cy="1027807"/>
          </a:xfrm>
          <a:prstGeom prst="roundRect">
            <a:avLst>
              <a:gd name="adj" fmla="val 26791"/>
            </a:avLst>
          </a:prstGeom>
          <a:solidFill>
            <a:srgbClr val="00805A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750" y="5049738"/>
            <a:ext cx="229388" cy="18355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30689" y="5013523"/>
            <a:ext cx="9943256" cy="587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entrega do documento completo é requisito para a próxima aula. Grupos que apresentarem hoje receberão feedback para refinamento.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6086" y="536178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Próxima Aula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306086" y="787102"/>
            <a:ext cx="6151409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 que Faremos no Próximo Encontro?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306086" y="1371203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306086" y="1601788"/>
            <a:ext cx="6151409" cy="1905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7" name="Text 4"/>
          <p:cNvSpPr/>
          <p:nvPr/>
        </p:nvSpPr>
        <p:spPr>
          <a:xfrm>
            <a:off x="5306086" y="1713309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Revisão dos Projetos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06086" y="1987748"/>
            <a:ext cx="615140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Feedback coletivo sobre os documentos entregues — vamos identificar pontos fortes e ajustes necessários em cada proposta.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306086" y="2638227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06086" y="2868811"/>
            <a:ext cx="6151409" cy="1905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1" name="Text 8"/>
          <p:cNvSpPr/>
          <p:nvPr/>
        </p:nvSpPr>
        <p:spPr>
          <a:xfrm>
            <a:off x="5306086" y="2980333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Construção do System Prompt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06086" y="3254772"/>
            <a:ext cx="615140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Aprenderemos a escrever instruções precisas para o agente — o "manual de comportamento" que define como ele pensa e age.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306086" y="3905250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06086" y="4135834"/>
            <a:ext cx="6151409" cy="1905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5" name="Text 12"/>
          <p:cNvSpPr/>
          <p:nvPr/>
        </p:nvSpPr>
        <p:spPr>
          <a:xfrm>
            <a:off x="5306086" y="4247356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Primeiro Protótipo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306086" y="4521795"/>
            <a:ext cx="615140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Cada grupo vai criar e testar a primeira versão do seu agente em uma plataforma de desenvolvimento de agentes com IA.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306086" y="5172273"/>
            <a:ext cx="293680" cy="1835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306086" y="5402858"/>
            <a:ext cx="6151409" cy="1905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9" name="Text 16"/>
          <p:cNvSpPr/>
          <p:nvPr/>
        </p:nvSpPr>
        <p:spPr>
          <a:xfrm>
            <a:off x="5306086" y="5514380"/>
            <a:ext cx="6151409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Integração com a Turma de Transações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306086" y="5788819"/>
            <a:ext cx="6151409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Apresentação dos protótipos para os alunos de Transações Imobiliárias — feedback real de usuários do setor.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200" y="718046"/>
            <a:ext cx="6151409" cy="1019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Agentes de IA: o futuro já chegou no mercado imobiliário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34200" y="2013347"/>
            <a:ext cx="6151409" cy="881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Você acaba de aprender os fundamentos que profissionais de IA em grandes empresas usam para construir sistemas inteligentes. Agora é a hora de colocar em prática — com criatividade, responsabilidade e impacto real.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734200" y="3100884"/>
            <a:ext cx="1928070" cy="2238772"/>
          </a:xfrm>
          <a:prstGeom prst="roundRect">
            <a:avLst>
              <a:gd name="adj" fmla="val 14282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6800" y="3303488"/>
            <a:ext cx="152287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Lembre-se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36800" y="3668613"/>
            <a:ext cx="1522870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Um agente bem definido começa com um problema real, não com tecnologia.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45820" y="3100884"/>
            <a:ext cx="1928070" cy="2238772"/>
          </a:xfrm>
          <a:prstGeom prst="roundRect">
            <a:avLst>
              <a:gd name="adj" fmla="val 14282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48420" y="3303488"/>
            <a:ext cx="1522870" cy="254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🤝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Colabore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420" y="3668613"/>
            <a:ext cx="1522870" cy="1468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 projeto é mais rico quando IA e Transações Imobiliárias pensam juntos.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57440" y="3100884"/>
            <a:ext cx="1928070" cy="2238772"/>
          </a:xfrm>
          <a:prstGeom prst="roundRect">
            <a:avLst>
              <a:gd name="adj" fmla="val 14282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0040" y="3303488"/>
            <a:ext cx="1522870" cy="509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Bora construir!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60040" y="3923605"/>
            <a:ext cx="1522870" cy="1174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 próxima aula, seu agente já vai existir. Hoje, planeje bem.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4200" y="5546130"/>
            <a:ext cx="6151409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Dúvidas? Conversem com o professor antes de começar a atividade. Boa sorte, turma! </a:t>
            </a:r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🏠</a:t>
            </a:r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🤖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2026-07-21T21:39:02Z</dcterms:created>
  <dcterms:modified xsi:type="dcterms:W3CDTF">2026-07-21T21:39:02Z</dcterms:modified>
</cp:coreProperties>
</file>