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DM Sans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1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46486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Próximos Passos: Aprendendo Machine Learning Modelo por Modelo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844727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partir de agora, a turma vai construir projetos completos de Machine Learning — um tipo de modelo por vez, do início ao fim.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559995"/>
            <a:ext cx="1905052" cy="251420"/>
          </a:xfrm>
          <a:prstGeom prst="roundRect">
            <a:avLst>
              <a:gd name="adj" fmla="val 7894"/>
            </a:avLst>
          </a:prstGeom>
          <a:solidFill>
            <a:srgbClr val="110745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4609604"/>
            <a:ext cx="231620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UC9 ·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95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 Agentes de IA para Machine Learning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39565"/>
            <a:ext cx="5796214" cy="200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Concluímos a etapa de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Agentes de IA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sistemas capazes de raciocinar, planear e agir com autonomia. Agora, damos um passo estratégico: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entender a máquina por dentro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é a base que alimenta esses agentes. Aprender os modelos de forma estruturada — com dados reais, análise, treino e entrega — permite que vocês não apenas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usem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ferramentas de IA, mas que as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construam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consciência e rigor.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626743"/>
            <a:ext cx="5796214" cy="909439"/>
          </a:xfrm>
          <a:prstGeom prst="roundRect">
            <a:avLst>
              <a:gd name="adj" fmla="val 2728"/>
            </a:avLst>
          </a:prstGeom>
          <a:solidFill>
            <a:srgbClr val="1D0C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3879155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3816846"/>
            <a:ext cx="50936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etapa transforma utilizadores de IA em criadores de soluções inteligentes.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452" y="1476772"/>
            <a:ext cx="4669018" cy="4669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13048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 Nossa Filosofia: Projetos Completos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494558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vamos apenas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rodar modelos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Vamos aprender 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caminho completo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dos dados reais até uma entrega de Machine Learning funcional e documentada.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474442"/>
            <a:ext cx="6296860" cy="2170410"/>
          </a:xfrm>
          <a:prstGeom prst="roundRect">
            <a:avLst>
              <a:gd name="adj" fmla="val 1143"/>
            </a:avLst>
          </a:prstGeom>
          <a:solidFill>
            <a:srgbClr val="4C5052"/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474442"/>
            <a:ext cx="3148430" cy="1217513"/>
          </a:xfrm>
          <a:custGeom>
            <a:avLst/>
            <a:gdLst/>
            <a:ahLst/>
            <a:cxnLst/>
            <a:rect l="l" t="t" r="r" b="b"/>
            <a:pathLst>
              <a:path w="3148430" h="1217513">
                <a:moveTo>
                  <a:pt x="20674" y="0"/>
                </a:moveTo>
                <a:lnTo>
                  <a:pt x="3148430" y="0"/>
                </a:lnTo>
                <a:lnTo>
                  <a:pt x="3148430" y="1217513"/>
                </a:lnTo>
                <a:lnTo>
                  <a:pt x="0" y="1217513"/>
                </a:lnTo>
                <a:lnTo>
                  <a:pt x="0" y="20674"/>
                </a:lnTo>
                <a:arcTo hR="20674" wR="20674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7" name="Text 4"/>
          <p:cNvSpPr/>
          <p:nvPr/>
        </p:nvSpPr>
        <p:spPr>
          <a:xfrm>
            <a:off x="826769" y="3639741"/>
            <a:ext cx="28178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Dados Reais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997424"/>
            <a:ext cx="2817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Sempre com bases de dados concretas e relevantes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09905" y="3474442"/>
            <a:ext cx="3148430" cy="1217513"/>
          </a:xfrm>
          <a:custGeom>
            <a:avLst/>
            <a:gdLst/>
            <a:ahLst/>
            <a:cxnLst/>
            <a:rect l="l" t="t" r="r" b="b"/>
            <a:pathLst>
              <a:path w="3148430" h="1217513">
                <a:moveTo>
                  <a:pt x="0" y="0"/>
                </a:moveTo>
                <a:lnTo>
                  <a:pt x="3127756" y="0"/>
                </a:lnTo>
                <a:arcTo hR="20674" wR="20674" stAng="16200000" swAng="5400000"/>
                <a:lnTo>
                  <a:pt x="3148430" y="1217513"/>
                </a:lnTo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3474442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1" name="Text 8"/>
          <p:cNvSpPr/>
          <p:nvPr/>
        </p:nvSpPr>
        <p:spPr>
          <a:xfrm>
            <a:off x="3975199" y="3639741"/>
            <a:ext cx="28178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Processo Completo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975199" y="3997424"/>
            <a:ext cx="2817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problema à entrega — nenhuma etapa é ignorada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691955"/>
            <a:ext cx="6296860" cy="952897"/>
          </a:xfrm>
          <a:custGeom>
            <a:avLst/>
            <a:gdLst/>
            <a:ahLst/>
            <a:cxnLst/>
            <a:rect l="l" t="t" r="r" b="b"/>
            <a:pathLst>
              <a:path w="6296860" h="952897">
                <a:moveTo>
                  <a:pt x="0" y="0"/>
                </a:moveTo>
                <a:lnTo>
                  <a:pt x="6296860" y="0"/>
                </a:lnTo>
                <a:lnTo>
                  <a:pt x="6296860" y="932222"/>
                </a:lnTo>
                <a:arcTo hR="20674" wR="20674" stAng="0" swAng="5400000"/>
                <a:lnTo>
                  <a:pt x="20674" y="952897"/>
                </a:lnTo>
                <a:arcTo hR="20674" wR="20674" stAng="5400000" swAng="5400000"/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661475" y="4691955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5" name="Text 12"/>
          <p:cNvSpPr/>
          <p:nvPr/>
        </p:nvSpPr>
        <p:spPr>
          <a:xfrm>
            <a:off x="826769" y="4857254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Modelo a Modelo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6769" y="5214938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algoritmo por vez, com profundidade e contexto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062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 Fluxo de Trabalho em ML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2805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projeto que vamos desenvolver seguirá este fluxo estruturado — reproduzível em qualquer problema real de Machine Learning.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878707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86822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1538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Treino &amp; Teste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71538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Features &amp; Target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71538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Análise Explor.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86822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Base Real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601265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fluxo não é apenas academico — é o mesmo utilizado por equipas profissionais de Data Science em todo o mundo.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902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Etapa 1 a 3: Entender os Dados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79621" y="929382"/>
            <a:ext cx="5459375" cy="5471616"/>
          </a:xfrm>
          <a:prstGeom prst="roundRect">
            <a:avLst>
              <a:gd name="adj" fmla="val 312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693323" y="1007467"/>
            <a:ext cx="52319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Base Real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3323" y="1263253"/>
            <a:ext cx="5231971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Trabalharemos sempre com dados reais — não inventados. Isso garante que os desafios sejam genuínos: dados em falta, ruído, inconsistências.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93323" y="1648321"/>
            <a:ext cx="52319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Análise Exploratória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3323" y="1904107"/>
            <a:ext cx="5231971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qualquer modelo, exploramos. Distribuições, correlações, outliers, padrões ocultos — a EDA revela o que os dados querem dizer.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93323" y="2289175"/>
            <a:ext cx="5231971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Features e Target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3323" y="2544961"/>
            <a:ext cx="5231971" cy="3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Definimos o que queremos prever (target) e as variáveis que usaremos para isso (features). Esta escolha é decisiva para a qualidade do modelo.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0902" y="1017290"/>
            <a:ext cx="5295668" cy="52958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902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Etapa 4 a 6: Construir e Avaliar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96455"/>
            <a:ext cx="3512653" cy="2512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780804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Treino e Teste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3138488"/>
            <a:ext cx="306776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Dividimos os dados em dois conjuntos: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treino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(para o modelo aprender) 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(para avaliar se o que aprendeu generaliza). Esta separação evita o overfitting e valida a robustez do modelo.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596455"/>
            <a:ext cx="3512752" cy="25125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2780804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Modelo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3138488"/>
            <a:ext cx="306786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Aplicamos o algoritmo escolhido e ajustamos os seus hiperparâmetros. Cada modelo tem uma lógica interna diferente — aprenderemos essa lógica, não apenas o código.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596455"/>
            <a:ext cx="3512653" cy="25125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2780804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Métricas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3138488"/>
            <a:ext cx="3067767" cy="1786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RMSE, F1-Score, vg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 As métricas dizem-nos se o modelo funciona — e em que condições. Escolher a métrica certa é tão importante quanto o modelo em si.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95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Etapa 7 e 8: Aprender com os Erros e Entregar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6772"/>
            <a:ext cx="4669018" cy="4669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0256" y="1456035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🔎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Análise dos Erros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40256" y="1879798"/>
            <a:ext cx="579621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erros são o nosso melhor professor. Vamos investigar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e porquê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modelo erra — identificando padrões nos erros, casos extremos e oportunidades de melhoria.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40256" y="2838946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Entrega do Modelo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40256" y="3262709"/>
            <a:ext cx="579621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não termina no notebook. Vamos aprender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exportar, documentar e disponibilizar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modelo de forma utilizável — um passo crítico na vida real de qualquer Data Scientist.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40256" y="4242594"/>
            <a:ext cx="5796214" cy="644823"/>
          </a:xfrm>
          <a:prstGeom prst="roundRect">
            <a:avLst>
              <a:gd name="adj" fmla="val 3847"/>
            </a:avLst>
          </a:prstGeom>
          <a:solidFill>
            <a:srgbClr val="1D0C7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51" y="4495006"/>
            <a:ext cx="206667" cy="1652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77512" y="4432697"/>
            <a:ext cx="570324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entrega é o que transforma código em solução.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2663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Os 10 Modelos que Vamos Dominar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50838"/>
            <a:ext cx="11478330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sequência foi desenhada para construir </a:t>
            </a:r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conhecimento progressivo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dos modelos mais interpretáveis aos mais complexos, cobrindo os principais paradigmas de ML.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8438"/>
            <a:ext cx="8737381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902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Modelos Supervisionados: Regressão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61475" y="1017290"/>
            <a:ext cx="2608793" cy="1404144"/>
          </a:xfrm>
          <a:prstGeom prst="roundRect">
            <a:avLst>
              <a:gd name="adj" fmla="val 1215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775177" y="1130995"/>
            <a:ext cx="238138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Regressão Linear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5177" y="1386780"/>
            <a:ext cx="2381389" cy="7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Prever valores contínuos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Prever o preço de uma casa com base na área e localização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Conceito-chave: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Relação linear entre variáveis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348351" y="1017290"/>
            <a:ext cx="2608793" cy="1404144"/>
          </a:xfrm>
          <a:prstGeom prst="roundRect">
            <a:avLst>
              <a:gd name="adj" fmla="val 1215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3462052" y="1130995"/>
            <a:ext cx="238138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Regressão Logística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62052" y="1386780"/>
            <a:ext cx="2381389" cy="92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Classificar em categorias discretas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Prever se um e-mail é spam ou não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Conceito-chave: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Probabilidade de pertencer a uma classe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0902" y="1017290"/>
            <a:ext cx="5295668" cy="52958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715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Modelos Supervisionados: Classificação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34580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4698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KNN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3812381"/>
            <a:ext cx="348507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Classificar por Proximidade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observa os K vizinhos mais próximos e vota na classe mais frequente. Simples, intuitivo e poderoso.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834580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3213" y="345469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Árvore de Decisão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353213" y="3812381"/>
            <a:ext cx="348517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Aprender Regras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os dados com base em perguntas binárias sucessivas. O resultado é um modelo transparente e interpretável.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834580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5050" y="345469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045050" y="3812381"/>
            <a:ext cx="348517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Combinar Várias Árvores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de múltiplas árvores de decisão. Mais robusto, menos propenso a overfitting e frequentemente mais preciso.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95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Modelos Não Supervisionados: Agrupamento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6772"/>
            <a:ext cx="4669018" cy="46691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0256" y="1456035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Aprendizagem Sem Rótulos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40256" y="1879798"/>
            <a:ext cx="579621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modelos não supervisionados,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não temos um target definido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algoritmo descobre estrutura nos dados por conta própria.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256" y="2595066"/>
            <a:ext cx="2815460" cy="26116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23916" y="270708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24600" y="3275509"/>
            <a:ext cx="24467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K-Means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24600" y="3699272"/>
            <a:ext cx="2446772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 dados em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 grupos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definidos previamente, minimizando a distância dentro de cada cluster.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1011" y="2595066"/>
            <a:ext cx="2815460" cy="26116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04671" y="270708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8905355" y="3275509"/>
            <a:ext cx="24467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DBSCAN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905355" y="3699272"/>
            <a:ext cx="2446772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grupos de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 livre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 precisar definir K. Também identifica e isola pontos de ruído — dados atípicos.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72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Modelos Avançados: PCA, Apriori e Reforço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14724"/>
            <a:ext cx="3512653" cy="22759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288002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📐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PCA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6769" y="3237706"/>
            <a:ext cx="31820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Reduzir Dimensões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temos demasiadas features, o PCA encontra as direções de maior variância e comprime os dados sem perder informação essencial. Ideal para visualização e pré-processamento.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714724"/>
            <a:ext cx="3512752" cy="22759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04716" y="2880023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Apriori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04716" y="3237706"/>
            <a:ext cx="31821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Encontrar Padrões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Descobre associações entre itens em transações. O exemplo clássico: "quem compra pão tende a comprar manteiga." Muito utilizado em sistemas de recomendação.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714724"/>
            <a:ext cx="3512653" cy="22759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82762" y="2880023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🎮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Bandit / Q-Learning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182762" y="3237706"/>
            <a:ext cx="31820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Aprendizado por Reforço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agente aprende por tentativa e erro, recebendo recompensas por boas decisões. Uma introdução elegante ao paradigma que alimenta os grandes agentes de IA modernos.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4605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 Progressão do Conhecimento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67123"/>
            <a:ext cx="11478330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modelos foram ordenados para que cada um construa sobre o anterior — desenvolvendo intuição, vocabulário e confiança progressivamente.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669256"/>
            <a:ext cx="1086815" cy="876995"/>
          </a:xfrm>
          <a:prstGeom prst="roundRect">
            <a:avLst>
              <a:gd name="adj" fmla="val 2645"/>
            </a:avLst>
          </a:prstGeom>
          <a:solidFill>
            <a:srgbClr val="4C50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141" y="1998960"/>
            <a:ext cx="217482" cy="217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02869" y="1823839"/>
            <a:ext cx="9472772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Reforço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02869" y="2152253"/>
            <a:ext cx="9472772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Bandit · Q-Learning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25579" y="2538313"/>
            <a:ext cx="9627351" cy="9525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2623542"/>
            <a:ext cx="2173729" cy="876995"/>
          </a:xfrm>
          <a:prstGeom prst="roundRect">
            <a:avLst>
              <a:gd name="adj" fmla="val 2645"/>
            </a:avLst>
          </a:prstGeom>
          <a:solidFill>
            <a:srgbClr val="4C50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9549" y="2953246"/>
            <a:ext cx="217482" cy="217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89783" y="2778125"/>
            <a:ext cx="838585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Avançado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989783" y="3106539"/>
            <a:ext cx="8385858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· Apriori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912494" y="3492599"/>
            <a:ext cx="8540437" cy="9525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4" name="Shape 10"/>
          <p:cNvSpPr/>
          <p:nvPr/>
        </p:nvSpPr>
        <p:spPr>
          <a:xfrm>
            <a:off x="661475" y="3577828"/>
            <a:ext cx="3260544" cy="876995"/>
          </a:xfrm>
          <a:prstGeom prst="roundRect">
            <a:avLst>
              <a:gd name="adj" fmla="val 2645"/>
            </a:avLst>
          </a:prstGeom>
          <a:solidFill>
            <a:srgbClr val="4C50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82956" y="3907532"/>
            <a:ext cx="217482" cy="217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76598" y="3732411"/>
            <a:ext cx="729904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Não Supervisionado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076598" y="4060825"/>
            <a:ext cx="7299043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· DBSCAN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999309" y="4446885"/>
            <a:ext cx="7453622" cy="9525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19" name="Shape 14"/>
          <p:cNvSpPr/>
          <p:nvPr/>
        </p:nvSpPr>
        <p:spPr>
          <a:xfrm>
            <a:off x="661475" y="4532114"/>
            <a:ext cx="4347458" cy="876995"/>
          </a:xfrm>
          <a:prstGeom prst="roundRect">
            <a:avLst>
              <a:gd name="adj" fmla="val 2645"/>
            </a:avLst>
          </a:prstGeom>
          <a:solidFill>
            <a:srgbClr val="4C505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26463" y="4861818"/>
            <a:ext cx="217482" cy="217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3512" y="4686697"/>
            <a:ext cx="621212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Classificação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163512" y="5015111"/>
            <a:ext cx="6212129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KNN · Árvore · Random Forest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086223" y="5401171"/>
            <a:ext cx="6366708" cy="9525"/>
          </a:xfrm>
          <a:prstGeom prst="roundRect">
            <a:avLst>
              <a:gd name="adj" fmla="val 49999"/>
            </a:avLst>
          </a:prstGeom>
          <a:solidFill>
            <a:srgbClr val="65696B"/>
          </a:solidFill>
          <a:ln/>
        </p:spPr>
      </p:sp>
      <p:sp>
        <p:nvSpPr>
          <p:cNvPr id="24" name="Shape 18"/>
          <p:cNvSpPr/>
          <p:nvPr/>
        </p:nvSpPr>
        <p:spPr>
          <a:xfrm>
            <a:off x="661475" y="5486400"/>
            <a:ext cx="5434373" cy="876995"/>
          </a:xfrm>
          <a:prstGeom prst="roundRect">
            <a:avLst>
              <a:gd name="adj" fmla="val 2645"/>
            </a:avLst>
          </a:prstGeom>
          <a:solidFill>
            <a:srgbClr val="4C505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9871" y="5816104"/>
            <a:ext cx="217482" cy="217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50426" y="5640983"/>
            <a:ext cx="512521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Regressão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250426" y="5969397"/>
            <a:ext cx="5125215" cy="239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· Logística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01588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 Que Esperamos de Cada Projeto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2083098"/>
            <a:ext cx="372061" cy="372070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5" name="Text 2"/>
          <p:cNvSpPr/>
          <p:nvPr/>
        </p:nvSpPr>
        <p:spPr>
          <a:xfrm>
            <a:off x="723485" y="21141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198830" y="2139950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Dados reais analisados com rigor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98830" y="2497634"/>
            <a:ext cx="575950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completa, sem atalhos — os dados contam uma história antes de qualquer modelo.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3357563"/>
            <a:ext cx="372061" cy="372070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9" name="Text 6"/>
          <p:cNvSpPr/>
          <p:nvPr/>
        </p:nvSpPr>
        <p:spPr>
          <a:xfrm>
            <a:off x="723485" y="33885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98830" y="3414415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Modelo treinado e avaliado com métricas adequadas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98830" y="3772098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escolha da métrica deve ser justificada pelo tipo de problema.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367411"/>
            <a:ext cx="372061" cy="372070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3" name="Text 10"/>
          <p:cNvSpPr/>
          <p:nvPr/>
        </p:nvSpPr>
        <p:spPr>
          <a:xfrm>
            <a:off x="723485" y="439841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198830" y="4424263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Análise crítica dos erros e limitações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98830" y="4781947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bom cientista de dados sabe onde o modelo falha — e porquê.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1475" y="5377259"/>
            <a:ext cx="372061" cy="372070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7" name="Text 14"/>
          <p:cNvSpPr/>
          <p:nvPr/>
        </p:nvSpPr>
        <p:spPr>
          <a:xfrm>
            <a:off x="723485" y="540826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198830" y="5434112"/>
            <a:ext cx="5759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Entrega documentada e reprodutível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98830" y="5791795"/>
            <a:ext cx="57595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limpo, comentado e partilhável — como no mundo real.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45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 Caminho à Frente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195193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é a nossa missão para os próximos módulos da UC9.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09516" y="2588617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"Não vamos apenas rodar modelos. Vamos aprender o caminho completo: dos dados reais até uma entrega de Machine Learning."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402582"/>
            <a:ext cx="19050" cy="636687"/>
          </a:xfrm>
          <a:prstGeom prst="roundRect">
            <a:avLst>
              <a:gd name="adj" fmla="val 49999"/>
            </a:avLst>
          </a:prstGeom>
          <a:solidFill>
            <a:srgbClr val="AC9EF5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225304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826769" y="339060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🗂️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Dados Reais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3748286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Sempre partimos de problemas concretos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3225304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6343789" y="3390602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10 Modelos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3789" y="3748286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mais simples ao mais avançado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343499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3" name="Text 11"/>
          <p:cNvSpPr/>
          <p:nvPr/>
        </p:nvSpPr>
        <p:spPr>
          <a:xfrm>
            <a:off x="826769" y="4508798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Fluxo Completo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769" y="4866481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etapas em cada projeto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8495" y="4343499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4C5052"/>
          </a:solidFill>
          <a:ln/>
        </p:spPr>
      </p:sp>
      <p:sp>
        <p:nvSpPr>
          <p:cNvPr id="16" name="Text 14"/>
          <p:cNvSpPr/>
          <p:nvPr/>
        </p:nvSpPr>
        <p:spPr>
          <a:xfrm>
            <a:off x="6343789" y="4508798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Entrega Real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3789" y="4866481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Soluções prontas para o mundo real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82" y="5482431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Bem-vindos à fase mais desafiante — e mais recompensadora — da UC9. </a:t>
            </a:r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2026-09-16T22:09:17Z</dcterms:created>
  <dcterms:modified xsi:type="dcterms:W3CDTF">2026-09-16T22:09:17Z</dcterms:modified>
</cp:coreProperties>
</file>